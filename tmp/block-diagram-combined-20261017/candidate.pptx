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2d4bf347e743bd" /><Relationship Type="http://schemas.openxmlformats.org/officeDocument/2006/relationships/extended-properties" Target="/docProps/app.xml" Id="R38543622df00440c" /><Relationship Type="http://schemas.openxmlformats.org/officeDocument/2006/relationships/officeDocument" Target="/ppt/presentation.xml" Id="R64cb16b5e74e49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2a11525aab40f5"/>
  </p:sldMasterIdLst>
  <p:notesMasterIdLst>
    <p:notesMasterId xmlns:r="http://schemas.openxmlformats.org/officeDocument/2006/relationships" r:id="R9ec86d6ca393485b"/>
  </p:notesMasterIdLst>
  <p:sldIdLst>
    <p:sldId xmlns:r="http://schemas.openxmlformats.org/officeDocument/2006/relationships" id="256" r:id="R3f84f1986314434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e4d947766647dd" /><Relationship Type="http://schemas.openxmlformats.org/officeDocument/2006/relationships/slideMaster" Target="/ppt/slideMasters/slideMaster1.xml" Id="Re82a11525aab40f5" /><Relationship Type="http://schemas.openxmlformats.org/officeDocument/2006/relationships/notesMaster" Target="/ppt/notesMasters/notesMaster1.xml" Id="R9ec86d6ca393485b" /><Relationship Type="http://schemas.openxmlformats.org/officeDocument/2006/relationships/presProps" Target="/ppt/presProps.xml" Id="R0cc8af4b81104529" /><Relationship Type="http://schemas.openxmlformats.org/officeDocument/2006/relationships/tableStyles" Target="/ppt/tableStyles.xml" Id="R7e2c42b3d58b44f0" /><Relationship Type="http://schemas.openxmlformats.org/officeDocument/2006/relationships/slide" Target="/ppt/slides/slide1.xml" Id="R3f84f198631443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08fbab39b948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fa0a4eeac54eb4" /><Relationship Type="http://schemas.openxmlformats.org/officeDocument/2006/relationships/notesMaster" Target="/ppt/notesMasters/notesMaster1.xml" Id="R1408fbcb0edc44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ภาพรวมแบ่งขอบเขต Phase 1 และ Phase 2 ไว้ในหน้าเดียว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 1 คือระบบเว็บไซต์หลัก เจ้าหน้าที่ดูภาพรวมที่ไม่มีข้อมูลการเงิน ดูห้อง และบันทึกมิเตอร์ได้ การบันทึกมิเตอร์ต้องระบุชื่อช่างทุกครั้ง หลังเลขมิเตอร์ครบ Admin ต้องสั่งสร้างบิล Draft จากค่าน้ำ ค่าไฟ และค่าส่วนกลาง จากนั้นอนุมัติเป็น Unpaid จึงรับเงินสดเต็มยอดได้ ระบบสร้างรายการรับเงินและใบเสร็จ พร้อมเปลี่ยนบิลเป็น Paid ใน transaction เดียวกัน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ฐานข้อมูล PostgreSQL ใช้ร่วมกันทุกโมดูล เส้นสองหัวระหว่าง Web App และฐานข้อมูลคืออ่านและบันทึกข้อมูล รายงานอ่านข้อมูลสรุปจากฐานข้อมูล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 2 รวบรวมงาน LINE ทั้งหมด แม้มีโค้ดบางส่วนเตรียมไว้แล้ว Admin สร้างรหัสผูกบัญชีและผู้พักอาศัยส่งรหัสผ่าน LINE จากนั้น Webhook ตรวจลายเซ็นและรหัสก่อนบันทึก LINE User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เส้นจากบิลที่อนุมัติไปคิวแจ้งเตือนหมายถึงบิล Unpaid และวันครบกำหนดเป็นข้อมูลสำหรับงานตรวจรายวันเมื่อถูกเรียก ไม่ใช่ส่งข้อความทันทีเมื่ออนุมัติ มีโค้ดจัดคิวก่อนครบกำหนดและค้างชำระแล้ว แต่ยังต้องเชื่อมการส่งจริงกับ LINE Messaging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ประกาศบันทึกในเว็บไซต์ได้แล้ว การส่งบิล แจ้งเตือน และกระจายประกาศผ่าน LINE อยู่ใน Phase 2 ส่วนส่งจริงใช้เส้นประ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แหล่งโค้ด:</a:t>
            </a:r>
          </a:p>
          <a:p xmlns:a="http://schemas.openxmlformats.org/drawingml/2006/main">
            <a:r>
              <a:t>/Users/initia-army/Documents/juristic-platform/app.js</a:t>
            </a:r>
          </a:p>
          <a:p xmlns:a="http://schemas.openxmlformats.org/drawingml/2006/main">
            <a:r>
              <a:t>/Users/initia-army/Documents/juristic-platform/lib/permissions.js</a:t>
            </a:r>
          </a:p>
          <a:p xmlns:a="http://schemas.openxmlformats.org/drawingml/2006/main">
            <a:r>
              <a:t>/Users/initia-army/Documents/juristic-platform/services/readings.js</a:t>
            </a:r>
          </a:p>
          <a:p xmlns:a="http://schemas.openxmlformats.org/drawingml/2006/main">
            <a:r>
              <a:t>/Users/initia-army/Documents/juristic-platform/services/billing.js</a:t>
            </a:r>
          </a:p>
          <a:p xmlns:a="http://schemas.openxmlformats.org/drawingml/2006/main">
            <a:r>
              <a:t>/Users/initia-army/Documents/juristic-platform/services/payment.js</a:t>
            </a:r>
          </a:p>
          <a:p xmlns:a="http://schemas.openxmlformats.org/drawingml/2006/main">
            <a:r>
              <a:t>/Users/initia-army/Documents/juristic-platform/routes/reports.js</a:t>
            </a:r>
          </a:p>
          <a:p xmlns:a="http://schemas.openxmlformats.org/drawingml/2006/main">
            <a:r>
              <a:t>/Users/initia-army/Documents/juristic-platform/routes/line.js</a:t>
            </a:r>
          </a:p>
          <a:p xmlns:a="http://schemas.openxmlformats.org/drawingml/2006/main">
            <a:r>
              <a:t>/Users/initia-army/Documents/juristic-platform/services/linking.js</a:t>
            </a:r>
          </a:p>
          <a:p xmlns:a="http://schemas.openxmlformats.org/drawingml/2006/main">
            <a:r>
              <a:t>/Users/initia-army/Documents/juristic-platform/services/jobs.js</a:t>
            </a:r>
          </a:p>
          <a:p xmlns:a="http://schemas.openxmlformats.org/drawingml/2006/main">
            <a:r>
              <a:t>/Users/initia-army/Documents/juristic-platform/routes/notifications.js</a:t>
            </a:r>
          </a:p>
          <a:p xmlns:a="http://schemas.openxmlformats.org/drawingml/2006/main">
            <a:r>
              <a:t>/Users/initia-army/Documents/juristic-platform/services/announcements.js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42736b03a41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2172c25f744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c9def4c2b4a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1411e65614b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d5c4b08cb42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f37442d0542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197BAA-C2A2-4C56-ADA4-F7EC9F2D6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7D1E24-D36D-4D7A-8FD4-C6A47EC947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B82D10-B72B-4109-B5A5-F19DB2EF2B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71F2F2-6814-41CA-B91A-75273BB229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CD7568-231E-4B5A-A6F5-6A8E053D61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93EA7D-7E3A-4928-A8A8-7EE037F49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EA743E-DCEE-44B5-AEEF-C69AEB7975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E3ADF0-D1C5-4906-8004-90BE829D33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FDBA3C-B6DA-44AC-B0C6-CF2AAE146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012315-EC41-4D3E-A2D8-FD96B99F5A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9e0e16c75b426f" /><Relationship Type="http://schemas.openxmlformats.org/officeDocument/2006/relationships/slideLayout" Target="/ppt/slideLayouts/slideLayout1.xml" Id="Rca80bcd241524c06" /><Relationship Type="http://schemas.openxmlformats.org/officeDocument/2006/relationships/slideLayout" Target="/ppt/slideLayouts/slideLayout2.xml" Id="Re7e637d3192c4cfc" /><Relationship Type="http://schemas.openxmlformats.org/officeDocument/2006/relationships/slideLayout" Target="/ppt/slideLayouts/slideLayout3.xml" Id="Ra56c82ec032c4248" /><Relationship Type="http://schemas.openxmlformats.org/officeDocument/2006/relationships/slideLayout" Target="/ppt/slideLayouts/slideLayout4.xml" Id="R9279ec9384e54573" /><Relationship Type="http://schemas.openxmlformats.org/officeDocument/2006/relationships/slideLayout" Target="/ppt/slideLayouts/slideLayout5.xml" Id="Rdd857eb4bf7a4d8d" /><Relationship Type="http://schemas.openxmlformats.org/officeDocument/2006/relationships/slideLayout" Target="/ppt/slideLayouts/slideLayout6.xml" Id="Re22b1bd75d844a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80bcd241524c06"/>
    <p:sldLayoutId xmlns:r="http://schemas.openxmlformats.org/officeDocument/2006/relationships" id="2147483650" r:id="Re7e637d3192c4cfc"/>
    <p:sldLayoutId xmlns:r="http://schemas.openxmlformats.org/officeDocument/2006/relationships" id="2147483651" r:id="Ra56c82ec032c4248"/>
    <p:sldLayoutId xmlns:r="http://schemas.openxmlformats.org/officeDocument/2006/relationships" id="2147483652" r:id="R9279ec9384e54573"/>
    <p:sldLayoutId xmlns:r="http://schemas.openxmlformats.org/officeDocument/2006/relationships" id="2147483653" r:id="Rdd857eb4bf7a4d8d"/>
    <p:sldLayoutId xmlns:r="http://schemas.openxmlformats.org/officeDocument/2006/relationships" id="2147483654" r:id="Re22b1bd75d844a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f3b5ef42a4d6b" /><Relationship Type="http://schemas.openxmlformats.org/officeDocument/2006/relationships/notesSlide" Target="/ppt/notesSlides/notesSlide1.xml" Id="Ra5e3c4415cae49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FC6955-E2D0-48E5-A168-768D5DB6C76B}"/>
              </a:ext>
            </a:extLst>
          </p:cNvPr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15525750" y="80486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777777"/>
            </a:solidFill>
            <a:prstDash val="dash"/>
            <a:tailEnd type="triangl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D9F1E4-AA3D-4BC5-B62A-8CB56EEAA828}"/>
              </a:ext>
            </a:extLst>
          </p:cNvPr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15525750" y="661987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777777"/>
            </a:solidFill>
            <a:prstDash val="dash"/>
            <a:tailEnd type="triangle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3C245A-D565-4F36-A6B0-6ECE1F22D759}"/>
              </a:ext>
            </a:extLst>
          </p:cNvPr>
          <p:cNvCxnSpPr>
            <a:stCxn xmlns:a="http://schemas.openxmlformats.org/drawingml/2006/main" id="20" idx="0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6096000" y="6072188"/>
            <a:ext cx="7810500" cy="59531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FD0D61-6B74-478E-910C-23A01CD57CC5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14668500" y="3524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2D291-9A18-4C05-B6F6-0DD9D8C9EDC1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334500" y="74533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DBE19-CAD3-4228-9F0D-3CB6A9650266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048500" y="74533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7CDAF-CC28-468A-A440-9D3B95092C17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762500" y="74533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50FF70-3526-4379-B2F5-EFC4238A485E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476500" y="74533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88FA0-454C-4269-8043-244325B7BD7A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524000" y="3714750"/>
            <a:ext cx="5715000" cy="2952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CFF54-7A65-4137-9E38-18C7946CC67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0382250" y="39528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08AE5-8400-4D63-BE3A-AD903CC4C10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38200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52525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552A7-6FF1-4638-90DE-F45252A1CE5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9B522-2DDB-4619-9F19-303C3BEFD363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57500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52525"/>
            </a:solidFill>
            <a:prstDash val="solid"/>
            <a:tailEnd type="triangle" w="med" len="med"/>
          </a:ln>
        </p:spPr>
      </p:cxnSp>
      <p:sp>
        <p:nvSpPr>
          <p:cNvPr id="49" name="title">
            <a:extLst xmlns:a="http://schemas.openxmlformats.org/drawingml/2006/main">
              <a:ext uri="{FF2B5EF4-FFF2-40B4-BE49-F238E27FC236}">
                <a16:creationId xmlns:a16="http://schemas.microsoft.com/office/drawing/2014/main" id="{4552971D-9EB6-4022-8B3C-A2F0037C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438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367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ระบบจัดการห้องพักและค่าสาธารณูปโภค</a:t>
            </a:r>
          </a:p>
        </p:txBody>
      </p:sp>
      <p:sp>
        <p:nvSpPr>
          <p:cNvPr id="2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DF842E3-0561-45B0-9F6B-32BCC110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762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21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r">
              <a:defRPr sz="21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Block Diagram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0332EB76-AD15-4DCD-A608-F38CEE49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71450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5C5C5"/>
            </a:solidFill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5CBBCBDD-F6AD-4A66-8827-0F0B420A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428750"/>
            <a:ext cx="0" cy="828675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5C5C5"/>
            </a:solidFill>
          </a:ln>
        </p:spPr>
      </p:sp>
      <p:sp>
        <p:nvSpPr>
          <p:cNvPr id="5" name="phase1-title">
            <a:extLst xmlns:a="http://schemas.openxmlformats.org/drawingml/2006/main">
              <a:ext uri="{FF2B5EF4-FFF2-40B4-BE49-F238E27FC236}">
                <a16:creationId xmlns:a16="http://schemas.microsoft.com/office/drawing/2014/main" id="{DA278EE2-15CF-4AE9-8514-B12BDF82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Phase 1  ระบบเว็บไซต์หลัก</a:t>
            </a:r>
          </a:p>
        </p:txBody>
      </p:sp>
      <p:sp>
        <p:nvSpPr>
          <p:cNvPr id="6" name="phase2-title">
            <a:extLst xmlns:a="http://schemas.openxmlformats.org/drawingml/2006/main">
              <a:ext uri="{FF2B5EF4-FFF2-40B4-BE49-F238E27FC236}">
                <a16:creationId xmlns:a16="http://schemas.microsoft.com/office/drawing/2014/main" id="{F4DB8330-2140-4E92-BA6B-22FAC466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47637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Phase 2  งาน LINE</a:t>
            </a:r>
          </a:p>
        </p:txBody>
      </p:sp>
      <p:sp>
        <p:nvSpPr>
          <p:cNvPr id="7" name="operator">
            <a:extLst xmlns:a="http://schemas.openxmlformats.org/drawingml/2006/main">
              <a:ext uri="{FF2B5EF4-FFF2-40B4-BE49-F238E27FC236}">
                <a16:creationId xmlns:a16="http://schemas.microsoft.com/office/drawing/2014/main" id="{F8D066B7-24F8-4A81-81DF-61305C1B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286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875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ผู้ดูแลระบบ /</a:t>
            </a:r>
          </a:p>
          <a:p xmlns:a="http://schemas.openxmlformats.org/drawingml/2006/main">
            <a:pPr algn="ctr">
              <a:spcAft>
                <a:spcPts val="250"/>
              </a:spcAft>
              <a:defRPr sz="1875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เจ้าหน้าที่</a:t>
            </a:r>
          </a:p>
        </p:txBody>
      </p:sp>
      <p:sp>
        <p:nvSpPr>
          <p:cNvPr id="8" name="auth">
            <a:extLst xmlns:a="http://schemas.openxmlformats.org/drawingml/2006/main">
              <a:ext uri="{FF2B5EF4-FFF2-40B4-BE49-F238E27FC236}">
                <a16:creationId xmlns:a16="http://schemas.microsoft.com/office/drawing/2014/main" id="{20219F85-B0A3-434A-A283-A297567E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เข้าสู่ระบบ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ตรวจตัวตนและสิทธิ์</a:t>
            </a:r>
          </a:p>
        </p:txBody>
      </p:sp>
      <p:sp>
        <p:nvSpPr>
          <p:cNvPr id="9" name="app">
            <a:extLst xmlns:a="http://schemas.openxmlformats.org/drawingml/2006/main">
              <a:ext uri="{FF2B5EF4-FFF2-40B4-BE49-F238E27FC236}">
                <a16:creationId xmlns:a16="http://schemas.microsoft.com/office/drawing/2014/main" id="{289EE99E-6369-4B94-8B66-D338590F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Web App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Node.js + Express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+ EJS</a:t>
            </a:r>
          </a:p>
        </p:txBody>
      </p:sp>
      <p:sp>
        <p:nvSpPr>
          <p:cNvPr id="10" name="database">
            <a:extLst xmlns:a="http://schemas.openxmlformats.org/drawingml/2006/main">
              <a:ext uri="{FF2B5EF4-FFF2-40B4-BE49-F238E27FC236}">
                <a16:creationId xmlns:a16="http://schemas.microsoft.com/office/drawing/2014/main" id="{1E98E944-DA99-4BE6-938A-FDC40BAA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20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ฐานข้อมูล</a:t>
            </a:r>
          </a:p>
          <a:p xmlns:a="http://schemas.openxmlformats.org/drawingml/2006/main">
            <a:pPr algn="ctr">
              <a:spcAft>
                <a:spcPts val="120"/>
              </a:spcAft>
              <a:defRPr sz="20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0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PostgreSQL</a:t>
            </a:r>
          </a:p>
          <a:p xmlns:a="http://schemas.openxmlformats.org/drawingml/2006/main">
            <a:pPr algn="ctr">
              <a:spcAft>
                <a:spcPts val="120"/>
              </a:spcAft>
              <a:defRPr sz="20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0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Supabase</a:t>
            </a:r>
          </a:p>
        </p:txBody>
      </p:sp>
      <p:sp>
        <p:nvSpPr>
          <p:cNvPr id="14" name="db-link-label">
            <a:extLst xmlns:a="http://schemas.openxmlformats.org/drawingml/2006/main">
              <a:ext uri="{FF2B5EF4-FFF2-40B4-BE49-F238E27FC236}">
                <a16:creationId xmlns:a16="http://schemas.microsoft.com/office/drawing/2014/main" id="{299A2E38-0EF2-43E6-9E32-9E16F00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650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อ่าน /</a:t>
            </a:r>
          </a:p>
          <a:p xmlns:a="http://schemas.openxmlformats.org/drawingml/2006/main">
            <a:pPr algn="ctr">
              <a:defRPr sz="165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650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บันทึก</a:t>
            </a:r>
          </a:p>
        </p:txBody>
      </p:sp>
      <p:sp>
        <p:nvSpPr>
          <p:cNvPr id="15" name="reports">
            <a:extLst xmlns:a="http://schemas.openxmlformats.org/drawingml/2006/main">
              <a:ext uri="{FF2B5EF4-FFF2-40B4-BE49-F238E27FC236}">
                <a16:creationId xmlns:a16="http://schemas.microsoft.com/office/drawing/2014/main" id="{32FE937C-F500-4B67-AB05-D57E82F4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ภาพรวม / รายงาน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ข้อมูลสรุปจากระบบ</a:t>
            </a:r>
          </a:p>
        </p:txBody>
      </p:sp>
      <p:sp>
        <p:nvSpPr>
          <p:cNvPr id="17" name="monthly-title">
            <a:extLst xmlns:a="http://schemas.openxmlformats.org/drawingml/2006/main">
              <a:ext uri="{FF2B5EF4-FFF2-40B4-BE49-F238E27FC236}">
                <a16:creationId xmlns:a16="http://schemas.microsoft.com/office/drawing/2014/main" id="{EEF74768-8784-4527-A701-D9596C59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15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25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ลำดับงานประจำเดือน</a:t>
            </a:r>
          </a:p>
        </p:txBody>
      </p:sp>
      <p:sp>
        <p:nvSpPr>
          <p:cNvPr id="18" name="readings">
            <a:extLst xmlns:a="http://schemas.openxmlformats.org/drawingml/2006/main">
              <a:ext uri="{FF2B5EF4-FFF2-40B4-BE49-F238E27FC236}">
                <a16:creationId xmlns:a16="http://schemas.microsoft.com/office/drawing/2014/main" id="{35DE32DC-787F-4E6C-9620-1650FF0C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1905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จดมิเตอร์</a:t>
            </a:r>
          </a:p>
          <a:p xmlns:a="http://schemas.openxmlformats.org/drawingml/2006/main">
            <a:pPr algn="ctr">
              <a:spcAft>
                <a:spcPts val="25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น้ำ / ไฟฟ้า</a:t>
            </a:r>
          </a:p>
          <a:p xmlns:a="http://schemas.openxmlformats.org/drawingml/2006/main">
            <a:pPr algn="ctr">
              <a:spcAft>
                <a:spcPts val="12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ระบุชื่อช่างทุกครั้ง</a:t>
            </a:r>
          </a:p>
        </p:txBody>
      </p:sp>
      <p:sp>
        <p:nvSpPr>
          <p:cNvPr id="19" name="draft">
            <a:extLst xmlns:a="http://schemas.openxmlformats.org/drawingml/2006/main">
              <a:ext uri="{FF2B5EF4-FFF2-40B4-BE49-F238E27FC236}">
                <a16:creationId xmlns:a16="http://schemas.microsoft.com/office/drawing/2014/main" id="{F8D4650B-DB0B-4C00-AB54-B50EEEA0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667500"/>
            <a:ext cx="1905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สร้างบิลร่าง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Admin สั่งสร้าง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สถานะ Draft</a:t>
            </a:r>
          </a:p>
        </p:txBody>
      </p:sp>
      <p:sp>
        <p:nvSpPr>
          <p:cNvPr id="20" name="approval">
            <a:extLst xmlns:a="http://schemas.openxmlformats.org/drawingml/2006/main">
              <a:ext uri="{FF2B5EF4-FFF2-40B4-BE49-F238E27FC236}">
                <a16:creationId xmlns:a16="http://schemas.microsoft.com/office/drawing/2014/main" id="{6BBA30D5-A4D4-4341-91A6-6AC228C5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667500"/>
            <a:ext cx="1905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อนุมัติบิล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Admin อนุมัติ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สถานะ Unpaid</a:t>
            </a:r>
          </a:p>
        </p:txBody>
      </p:sp>
      <p:sp>
        <p:nvSpPr>
          <p:cNvPr id="21" name="cash">
            <a:extLst xmlns:a="http://schemas.openxmlformats.org/drawingml/2006/main">
              <a:ext uri="{FF2B5EF4-FFF2-40B4-BE49-F238E27FC236}">
                <a16:creationId xmlns:a16="http://schemas.microsoft.com/office/drawing/2014/main" id="{DBCE9BBE-37FD-4DAA-93E6-71F5581A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667500"/>
            <a:ext cx="1905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รับเงินสด</a:t>
            </a:r>
          </a:p>
          <a:p xmlns:a="http://schemas.openxmlformats.org/drawingml/2006/main">
            <a:pPr algn="ctr">
              <a:spcAft>
                <a:spcPts val="12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Admin รับเต็มยอด</a:t>
            </a:r>
          </a:p>
          <a:p xmlns:a="http://schemas.openxmlformats.org/drawingml/2006/main">
            <a:pPr algn="ctr">
              <a:spcAft>
                <a:spcPts val="12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บิลเป็น Paid</a:t>
            </a:r>
          </a:p>
        </p:txBody>
      </p:sp>
      <p:sp>
        <p:nvSpPr>
          <p:cNvPr id="22" name="receipt">
            <a:extLst xmlns:a="http://schemas.openxmlformats.org/drawingml/2006/main">
              <a:ext uri="{FF2B5EF4-FFF2-40B4-BE49-F238E27FC236}">
                <a16:creationId xmlns:a16="http://schemas.microsoft.com/office/drawing/2014/main" id="{EB628053-DBE9-416B-A817-85286125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67500"/>
            <a:ext cx="1905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แสดง / พิมพ์</a:t>
            </a:r>
          </a:p>
          <a:p xmlns:a="http://schemas.openxmlformats.org/drawingml/2006/main"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ใบเสร็จ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สร้างอัตโนมัติ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เมื่อยืนยันรับเงิน</a:t>
            </a:r>
          </a:p>
        </p:txBody>
      </p:sp>
      <p:sp>
        <p:nvSpPr>
          <p:cNvPr id="24" name="work-label">
            <a:extLst xmlns:a="http://schemas.openxmlformats.org/drawingml/2006/main">
              <a:ext uri="{FF2B5EF4-FFF2-40B4-BE49-F238E27FC236}">
                <a16:creationId xmlns:a16="http://schemas.microsoft.com/office/drawing/2014/main" id="{FD5F70AD-3553-4BC7-B6D9-CC3E3BA8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75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ใช้งานตามสิทธิ์</a:t>
            </a:r>
          </a:p>
        </p:txBody>
      </p:sp>
      <p:sp>
        <p:nvSpPr>
          <p:cNvPr id="29" name="divider">
            <a:extLst xmlns:a="http://schemas.openxmlformats.org/drawingml/2006/main">
              <a:ext uri="{FF2B5EF4-FFF2-40B4-BE49-F238E27FC236}">
                <a16:creationId xmlns:a16="http://schemas.microsoft.com/office/drawing/2014/main" id="{02A8D8DD-6B02-4304-959D-9207331B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15375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5C5C5"/>
            </a:solidFill>
          </a:ln>
        </p:spPr>
      </p:sp>
      <p:sp>
        <p:nvSpPr>
          <p:cNvPr id="30" name="staff-role">
            <a:extLst xmlns:a="http://schemas.openxmlformats.org/drawingml/2006/main">
              <a:ext uri="{FF2B5EF4-FFF2-40B4-BE49-F238E27FC236}">
                <a16:creationId xmlns:a16="http://schemas.microsoft.com/office/drawing/2014/main" id="{C8860C9C-0E56-4552-BBC7-1C5AC04A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154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950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เจ้าหน้าที่: ภาพรวมการจดมิเตอร์ ดูห้อง และจดมิเตอร์</a:t>
            </a:r>
          </a:p>
        </p:txBody>
      </p:sp>
      <p:sp>
        <p:nvSpPr>
          <p:cNvPr id="31" name="admin-role">
            <a:extLst xmlns:a="http://schemas.openxmlformats.org/drawingml/2006/main">
              <a:ext uri="{FF2B5EF4-FFF2-40B4-BE49-F238E27FC236}">
                <a16:creationId xmlns:a16="http://schemas.microsoft.com/office/drawing/2014/main" id="{70F117BE-E225-451E-80AC-588CF497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5355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950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Admin: เข้าถึงทุกส่วน รวมบิล รับเงินสด และรายงาน</a:t>
            </a:r>
          </a:p>
        </p:txBody>
      </p:sp>
      <p:sp>
        <p:nvSpPr>
          <p:cNvPr id="32" name="binding-heading">
            <a:extLst xmlns:a="http://schemas.openxmlformats.org/drawingml/2006/main">
              <a:ext uri="{FF2B5EF4-FFF2-40B4-BE49-F238E27FC236}">
                <a16:creationId xmlns:a16="http://schemas.microsoft.com/office/drawing/2014/main" id="{80ADBC1C-AF32-4EFF-B12B-9CA5D053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2479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การผูกบัญชี: มีโค้ดรองรับแล้ว</a:t>
            </a:r>
          </a:p>
        </p:txBody>
      </p:sp>
      <p:sp>
        <p:nvSpPr>
          <p:cNvPr id="33" name="resident-code">
            <a:extLst xmlns:a="http://schemas.openxmlformats.org/drawingml/2006/main">
              <a:ext uri="{FF2B5EF4-FFF2-40B4-BE49-F238E27FC236}">
                <a16:creationId xmlns:a16="http://schemas.microsoft.com/office/drawing/2014/main" id="{C2C086EB-D12E-482E-9CA1-4699F474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9527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ผู้พักอาศัย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ส่งรหัสผ่าน LINE</a:t>
            </a:r>
          </a:p>
        </p:txBody>
      </p:sp>
      <p:sp>
        <p:nvSpPr>
          <p:cNvPr id="34" name="webhook">
            <a:extLst xmlns:a="http://schemas.openxmlformats.org/drawingml/2006/main">
              <a:ext uri="{FF2B5EF4-FFF2-40B4-BE49-F238E27FC236}">
                <a16:creationId xmlns:a16="http://schemas.microsoft.com/office/drawing/2014/main" id="{DB2BC86C-0C12-4098-9AC9-CB81E21C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9527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LINE Webhook</a:t>
            </a:r>
          </a:p>
          <a:p xmlns:a="http://schemas.openxmlformats.org/drawingml/2006/main">
            <a:pPr algn="ctr">
              <a:spcAft>
                <a:spcPts val="12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ตรวจรหัสและลายเซ็น</a:t>
            </a:r>
          </a:p>
          <a:p xmlns:a="http://schemas.openxmlformats.org/drawingml/2006/main">
            <a:pPr algn="ctr">
              <a:spcAft>
                <a:spcPts val="12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ผูกบัญชีผู้เช่า</a:t>
            </a:r>
          </a:p>
        </p:txBody>
      </p:sp>
      <p:sp>
        <p:nvSpPr>
          <p:cNvPr id="36" name="code-label">
            <a:extLst xmlns:a="http://schemas.openxmlformats.org/drawingml/2006/main">
              <a:ext uri="{FF2B5EF4-FFF2-40B4-BE49-F238E27FC236}">
                <a16:creationId xmlns:a16="http://schemas.microsoft.com/office/drawing/2014/main" id="{923C0BDE-E184-47B4-BA6C-F989442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1051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650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ส่งรหัส</a:t>
            </a:r>
          </a:p>
        </p:txBody>
      </p:sp>
      <p:sp>
        <p:nvSpPr>
          <p:cNvPr id="37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7CB9011-D734-4B4F-B345-79DA487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2291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1875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Admin เป็นผู้สร้างรหัสผูกบัญชี</a:t>
            </a:r>
          </a:p>
        </p:txBody>
      </p:sp>
      <p:sp>
        <p:nvSpPr>
          <p:cNvPr id="38" name="delivery-heading">
            <a:extLst xmlns:a="http://schemas.openxmlformats.org/drawingml/2006/main">
              <a:ext uri="{FF2B5EF4-FFF2-40B4-BE49-F238E27FC236}">
                <a16:creationId xmlns:a16="http://schemas.microsoft.com/office/drawing/2014/main" id="{11BA6B76-FF83-4C9E-878D-D8C664DA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8577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การส่งข้อความ: พัฒนาต่อ</a:t>
            </a:r>
          </a:p>
        </p:txBody>
      </p:sp>
      <p:sp>
        <p:nvSpPr>
          <p:cNvPr id="39" name="queue">
            <a:extLst xmlns:a="http://schemas.openxmlformats.org/drawingml/2006/main">
              <a:ext uri="{FF2B5EF4-FFF2-40B4-BE49-F238E27FC236}">
                <a16:creationId xmlns:a16="http://schemas.microsoft.com/office/drawing/2014/main" id="{64843326-0C90-4F45-826D-4D707AD1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5524500"/>
            <a:ext cx="323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9050">
            <a:solidFill>
              <a:srgbClr val="252525"/>
            </a:solidFill>
            <a:prstDash val="solid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จัดคิวแจ้งเตือน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เมื่อเรียกงานตรวจรายวัน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มีโค้ดรองรับแล้ว</a:t>
            </a:r>
          </a:p>
        </p:txBody>
      </p:sp>
      <p:sp>
        <p:nvSpPr>
          <p:cNvPr id="40" name="api">
            <a:extLst xmlns:a="http://schemas.openxmlformats.org/drawingml/2006/main">
              <a:ext uri="{FF2B5EF4-FFF2-40B4-BE49-F238E27FC236}">
                <a16:creationId xmlns:a16="http://schemas.microsoft.com/office/drawing/2014/main" id="{904CC383-1A27-4FAF-B852-6752919F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09612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7777"/>
            </a:solidFill>
            <a:prstDash val="dash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LINE Messaging API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เชื่อมการส่งข้อความจริง</a:t>
            </a:r>
          </a:p>
        </p:txBody>
      </p:sp>
      <p:sp>
        <p:nvSpPr>
          <p:cNvPr id="41" name="resident-output">
            <a:extLst xmlns:a="http://schemas.openxmlformats.org/drawingml/2006/main">
              <a:ext uri="{FF2B5EF4-FFF2-40B4-BE49-F238E27FC236}">
                <a16:creationId xmlns:a16="http://schemas.microsoft.com/office/drawing/2014/main" id="{8D7EBAE8-4209-4606-A42E-2CE73CEF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810625"/>
            <a:ext cx="3238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7777"/>
            </a:solidFill>
            <a:prstDash val="dash"/>
          </a:ln>
        </p:spPr>
        <p:txBody>
          <a:bodyPr xmlns:a="http://schemas.openxmlformats.org/drawingml/2006/main" wrap="none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ผู้พักอาศัย</a:t>
            </a:r>
          </a:p>
          <a:p xmlns:a="http://schemas.openxmlformats.org/drawingml/2006/main"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รับข้อความผ่าน LINE OA</a:t>
            </a:r>
          </a:p>
        </p:txBody>
      </p:sp>
      <p:sp>
        <p:nvSpPr>
          <p:cNvPr id="43" name="phase2-data-link">
            <a:extLst xmlns:a="http://schemas.openxmlformats.org/drawingml/2006/main">
              <a:ext uri="{FF2B5EF4-FFF2-40B4-BE49-F238E27FC236}">
                <a16:creationId xmlns:a16="http://schemas.microsoft.com/office/drawing/2014/main" id="{70EF563C-AE1B-4AA8-82F0-9A06761E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8170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บิล Unpaid และวันครบกำหนด</a:t>
            </a:r>
          </a:p>
        </p:txBody>
      </p:sp>
      <p:sp>
        <p:nvSpPr>
          <p:cNvPr id="45" name="api-label">
            <a:extLst xmlns:a="http://schemas.openxmlformats.org/drawingml/2006/main">
              <a:ext uri="{FF2B5EF4-FFF2-40B4-BE49-F238E27FC236}">
                <a16:creationId xmlns:a16="http://schemas.microsoft.com/office/drawing/2014/main" id="{66B6C952-EB4A-4CDE-B3A1-52A2EB21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66484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เชื่อม API</a:t>
            </a:r>
          </a:p>
        </p:txBody>
      </p:sp>
      <p:sp>
        <p:nvSpPr>
          <p:cNvPr id="47" name="message-label">
            <a:extLst xmlns:a="http://schemas.openxmlformats.org/drawingml/2006/main">
              <a:ext uri="{FF2B5EF4-FFF2-40B4-BE49-F238E27FC236}">
                <a16:creationId xmlns:a16="http://schemas.microsoft.com/office/drawing/2014/main" id="{59CC8BE9-5F02-46A9-8643-2CD0BC3B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82105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ส่งผ่าน LINE OA</a:t>
            </a:r>
          </a:p>
        </p:txBody>
      </p:sp>
      <p:sp>
        <p:nvSpPr>
          <p:cNvPr id="48" name="future-note">
            <a:extLst xmlns:a="http://schemas.openxmlformats.org/drawingml/2006/main">
              <a:ext uri="{FF2B5EF4-FFF2-40B4-BE49-F238E27FC236}">
                <a16:creationId xmlns:a16="http://schemas.microsoft.com/office/drawing/2014/main" id="{DED88321-F0ED-4196-9A9E-CB8786EA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8298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1650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เส้นประ: ยังไม่ส่งข้อความจริง</a:t>
            </a:r>
          </a:p>
        </p:txBody>
      </p:sp>
    </p:spTree>
    <p:extLst>
      <p:ext uri="{BB962C8B-B14F-4D97-AF65-F5344CB8AC3E}">
        <p14:creationId xmlns:p14="http://schemas.microsoft.com/office/powerpoint/2010/main" val="995513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2026-10-16T17:44:48.3130000Z</dcterms:created>
  <dcterms:modified xsi:type="dcterms:W3CDTF">2026-10-16T17:44:48.3130000Z</dcterms:modified>
</coreProperties>
</file>