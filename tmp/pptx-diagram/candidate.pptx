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97c50307284f5d" /><Relationship Type="http://schemas.openxmlformats.org/officeDocument/2006/relationships/extended-properties" Target="/docProps/app.xml" Id="Rf633f123db364d32" /><Relationship Type="http://schemas.openxmlformats.org/officeDocument/2006/relationships/officeDocument" Target="/ppt/presentation.xml" Id="R8c506735f42b47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84a493c2ba4a5b"/>
  </p:sldMasterIdLst>
  <p:notesMasterIdLst>
    <p:notesMasterId xmlns:r="http://schemas.openxmlformats.org/officeDocument/2006/relationships" r:id="R83855f51175042c9"/>
  </p:notesMasterIdLst>
  <p:sldIdLst>
    <p:sldId xmlns:r="http://schemas.openxmlformats.org/officeDocument/2006/relationships" id="256" r:id="R46e2522d4ff0457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d6b514ef0544c2" /><Relationship Type="http://schemas.openxmlformats.org/officeDocument/2006/relationships/slideMaster" Target="/ppt/slideMasters/slideMaster1.xml" Id="R5384a493c2ba4a5b" /><Relationship Type="http://schemas.openxmlformats.org/officeDocument/2006/relationships/notesMaster" Target="/ppt/notesMasters/notesMaster1.xml" Id="R83855f51175042c9" /><Relationship Type="http://schemas.openxmlformats.org/officeDocument/2006/relationships/presProps" Target="/ppt/presProps.xml" Id="Rd94546d776e54f2c" /><Relationship Type="http://schemas.openxmlformats.org/officeDocument/2006/relationships/tableStyles" Target="/ppt/tableStyles.xml" Id="Raf1da3d7ac484bec" /><Relationship Type="http://schemas.openxmlformats.org/officeDocument/2006/relationships/slide" Target="/ppt/slides/slide1.xml" Id="R46e2522d4ff045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1750d7df9b45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c25bb17a004845" /><Relationship Type="http://schemas.openxmlformats.org/officeDocument/2006/relationships/notesMaster" Target="/ppt/notesMasters/notesMaster1.xml" Id="Red9e20f756e34d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693da96ea4b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2b58dd3a74c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c64c0ed7c4f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8676f06c941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441c5b36c48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ace9ff2724f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E3F703-C6DD-4E72-AF4E-03A2341D3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C13B0C-44DC-47EB-BEF7-B702F5C706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42BB30-1164-4F87-B8F7-437752E1E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CDC9B7-8D0D-4823-9074-9C526D25B0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35EE23-B8A2-499C-BB82-714F7F5327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EA9315-D886-431A-A2E0-05727F2077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779720-688F-4E73-BBCD-9C7DAE31F8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1C7CBD-E2E3-4471-B1DE-C7607565EB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3AB88E-B5DC-4CED-8EDA-1E195E67BF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BD5803-739A-41D7-B303-4BC4B89A1B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1c3af8266f4f16" /><Relationship Type="http://schemas.openxmlformats.org/officeDocument/2006/relationships/slideLayout" Target="/ppt/slideLayouts/slideLayout1.xml" Id="R27012c295b294ea1" /><Relationship Type="http://schemas.openxmlformats.org/officeDocument/2006/relationships/slideLayout" Target="/ppt/slideLayouts/slideLayout2.xml" Id="R5d0d23fe3c9a489e" /><Relationship Type="http://schemas.openxmlformats.org/officeDocument/2006/relationships/slideLayout" Target="/ppt/slideLayouts/slideLayout3.xml" Id="R92e18439f8854b63" /><Relationship Type="http://schemas.openxmlformats.org/officeDocument/2006/relationships/slideLayout" Target="/ppt/slideLayouts/slideLayout4.xml" Id="Rdcfaed3edf1a4d0b" /><Relationship Type="http://schemas.openxmlformats.org/officeDocument/2006/relationships/slideLayout" Target="/ppt/slideLayouts/slideLayout5.xml" Id="R69f745c879de4b70" /><Relationship Type="http://schemas.openxmlformats.org/officeDocument/2006/relationships/slideLayout" Target="/ppt/slideLayouts/slideLayout6.xml" Id="R046d418bb79d45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012c295b294ea1"/>
    <p:sldLayoutId xmlns:r="http://schemas.openxmlformats.org/officeDocument/2006/relationships" id="2147483650" r:id="R5d0d23fe3c9a489e"/>
    <p:sldLayoutId xmlns:r="http://schemas.openxmlformats.org/officeDocument/2006/relationships" id="2147483651" r:id="R92e18439f8854b63"/>
    <p:sldLayoutId xmlns:r="http://schemas.openxmlformats.org/officeDocument/2006/relationships" id="2147483652" r:id="Rdcfaed3edf1a4d0b"/>
    <p:sldLayoutId xmlns:r="http://schemas.openxmlformats.org/officeDocument/2006/relationships" id="2147483653" r:id="R69f745c879de4b70"/>
    <p:sldLayoutId xmlns:r="http://schemas.openxmlformats.org/officeDocument/2006/relationships" id="2147483654" r:id="R046d418bb79d45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8d16e3448a4669" /><Relationship Type="http://schemas.openxmlformats.org/officeDocument/2006/relationships/notesSlide" Target="/ppt/notesSlides/notesSlide1.xml" Id="Rf24215aab08144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source-1">
            <a:extLst xmlns:a="http://schemas.openxmlformats.org/drawingml/2006/main">
              <a:ext uri="{FF2B5EF4-FFF2-40B4-BE49-F238E27FC236}">
                <a16:creationId xmlns:a16="http://schemas.microsoft.com/office/drawing/2014/main" id="{24CB54D8-97CC-4D75-A90D-CA6259B9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620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source-8">
            <a:extLst xmlns:a="http://schemas.openxmlformats.org/drawingml/2006/main">
              <a:ext uri="{FF2B5EF4-FFF2-40B4-BE49-F238E27FC236}">
                <a16:creationId xmlns:a16="http://schemas.microsoft.com/office/drawing/2014/main" id="{48E9C7A2-78D0-4EBD-98B1-CA766372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629900" cy="7753350"/>
          </a:xfrm>
          <a:prstGeom xmlns:a="http://schemas.openxmlformats.org/drawingml/2006/main" prst="roundRect">
            <a:avLst>
              <a:gd name="adj" fmla="val 2948"/>
            </a:avLst>
          </a:prstGeom>
          <a:solidFill xmlns:a="http://schemas.openxmlformats.org/drawingml/2006/main">
            <a:srgbClr val="F0F7F3"/>
          </a:solidFill>
          <a:ln xmlns:a="http://schemas.openxmlformats.org/drawingml/2006/main" w="19050">
            <a:solidFill>
              <a:srgbClr val="BFD8C9"/>
            </a:solidFill>
            <a:prstDash val="solid"/>
          </a:ln>
        </p:spPr>
      </p:sp>
      <p:sp>
        <p:nvSpPr>
          <p:cNvPr id="3" name="source-10">
            <a:extLst xmlns:a="http://schemas.openxmlformats.org/drawingml/2006/main">
              <a:ext uri="{FF2B5EF4-FFF2-40B4-BE49-F238E27FC236}">
                <a16:creationId xmlns:a16="http://schemas.microsoft.com/office/drawing/2014/main" id="{0CA357DA-9D4D-43C4-9020-FE55EF73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05025"/>
            <a:ext cx="18478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source-11 พัฒนาแล้ว">
            <a:extLst xmlns:a="http://schemas.openxmlformats.org/drawingml/2006/main">
              <a:ext uri="{FF2B5EF4-FFF2-40B4-BE49-F238E27FC236}">
                <a16:creationId xmlns:a16="http://schemas.microsoft.com/office/drawing/2014/main" id="{96238792-7847-40C9-BC6B-E422709A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111" y="2133600"/>
            <a:ext cx="1137493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พัฒนาแล้ว</a:t>
            </a:r>
          </a:p>
        </p:txBody>
      </p:sp>
      <p:sp>
        <p:nvSpPr>
          <p:cNvPr id="5" name="source-13">
            <a:extLst xmlns:a="http://schemas.openxmlformats.org/drawingml/2006/main">
              <a:ext uri="{FF2B5EF4-FFF2-40B4-BE49-F238E27FC236}">
                <a16:creationId xmlns:a16="http://schemas.microsoft.com/office/drawing/2014/main" id="{FD28A4C9-2237-4AAD-906D-DBE442CD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46101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6A18F"/>
            </a:solidFill>
            <a:prstDash val="solid"/>
          </a:ln>
        </p:spPr>
      </p:sp>
      <p:sp>
        <p:nvSpPr>
          <p:cNvPr id="6" name="source-14 ผู้ดูแลระบบ / เจ้าหน้าที่">
            <a:extLst xmlns:a="http://schemas.openxmlformats.org/drawingml/2006/main">
              <a:ext uri="{FF2B5EF4-FFF2-40B4-BE49-F238E27FC236}">
                <a16:creationId xmlns:a16="http://schemas.microsoft.com/office/drawing/2014/main" id="{6606DB90-BFCA-48FC-A9FA-35704E70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420" y="3143204"/>
            <a:ext cx="2554784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ผู้ดูแลระบบ / เจ้าหน้าที่</a:t>
            </a:r>
          </a:p>
        </p:txBody>
      </p:sp>
      <p:sp>
        <p:nvSpPr>
          <p:cNvPr id="7" name="source-16">
            <a:extLst xmlns:a="http://schemas.openxmlformats.org/drawingml/2006/main">
              <a:ext uri="{FF2B5EF4-FFF2-40B4-BE49-F238E27FC236}">
                <a16:creationId xmlns:a16="http://schemas.microsoft.com/office/drawing/2014/main" id="{A685664D-0B29-4A37-B24B-53365611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9944100" cy="38100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6B5B"/>
            </a:solidFill>
            <a:prstDash val="solid"/>
          </a:ln>
        </p:spPr>
      </p:sp>
      <p:sp>
        <p:nvSpPr>
          <p:cNvPr id="8" name="source-20">
            <a:extLst xmlns:a="http://schemas.openxmlformats.org/drawingml/2006/main">
              <a:ext uri="{FF2B5EF4-FFF2-40B4-BE49-F238E27FC236}">
                <a16:creationId xmlns:a16="http://schemas.microsoft.com/office/drawing/2014/main" id="{8E66FD84-CAEB-4629-A838-98D71F28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0F7F3"/>
          </a:solidFill>
          <a:ln xmlns:a="http://schemas.openxmlformats.org/drawingml/2006/main" w="14288">
            <a:solidFill>
              <a:srgbClr val="BFD8C9"/>
            </a:solidFill>
            <a:prstDash val="solid"/>
          </a:ln>
        </p:spPr>
      </p:sp>
      <p:sp>
        <p:nvSpPr>
          <p:cNvPr id="9" name="source-21 ดูข้อมูลห้องพัก">
            <a:extLst xmlns:a="http://schemas.openxmlformats.org/drawingml/2006/main">
              <a:ext uri="{FF2B5EF4-FFF2-40B4-BE49-F238E27FC236}">
                <a16:creationId xmlns:a16="http://schemas.microsoft.com/office/drawing/2014/main" id="{FE479060-1619-4A26-8B9D-C4DAFD8E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760" y="5334000"/>
            <a:ext cx="166494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ดูข้อมูลห้องพัก</a:t>
            </a:r>
          </a:p>
        </p:txBody>
      </p:sp>
      <p:sp>
        <p:nvSpPr>
          <p:cNvPr id="10" name="source-22 ข้อมูลห้องและสถานะห้องพัก">
            <a:extLst xmlns:a="http://schemas.openxmlformats.org/drawingml/2006/main">
              <a:ext uri="{FF2B5EF4-FFF2-40B4-BE49-F238E27FC236}">
                <a16:creationId xmlns:a16="http://schemas.microsoft.com/office/drawing/2014/main" id="{F8041D08-7C33-4436-A47D-A45E2CD5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318" y="5705475"/>
            <a:ext cx="235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516B63"/>
                </a:solidFill>
                <a:latin typeface="Thonburi"/>
                <a:ea typeface="Thonburi"/>
                <a:cs typeface="Thonburi"/>
              </a:rPr>
              <a:t>ข้อมูลห้องและสถานะห้องพัก</a:t>
            </a:r>
          </a:p>
        </p:txBody>
      </p:sp>
      <p:sp>
        <p:nvSpPr>
          <p:cNvPr id="11" name="source-23">
            <a:extLst xmlns:a="http://schemas.openxmlformats.org/drawingml/2006/main">
              <a:ext uri="{FF2B5EF4-FFF2-40B4-BE49-F238E27FC236}">
                <a16:creationId xmlns:a16="http://schemas.microsoft.com/office/drawing/2014/main" id="{47DFAA51-D22C-4C8B-864A-647FBDA5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578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0F7F3"/>
          </a:solidFill>
          <a:ln xmlns:a="http://schemas.openxmlformats.org/drawingml/2006/main" w="14288">
            <a:solidFill>
              <a:srgbClr val="BFD8C9"/>
            </a:solidFill>
            <a:prstDash val="solid"/>
          </a:ln>
        </p:spPr>
      </p:sp>
      <p:sp>
        <p:nvSpPr>
          <p:cNvPr id="12" name="source-24 จดมิเตอร์น้ำ / ไฟฟ้า">
            <a:extLst xmlns:a="http://schemas.openxmlformats.org/drawingml/2006/main">
              <a:ext uri="{FF2B5EF4-FFF2-40B4-BE49-F238E27FC236}">
                <a16:creationId xmlns:a16="http://schemas.microsoft.com/office/drawing/2014/main" id="{B3FE53EF-0D55-4874-B8DB-AB95E741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914" y="5333978"/>
            <a:ext cx="2273796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จดมิเตอร์น้ำ / ไฟฟ้า</a:t>
            </a:r>
          </a:p>
        </p:txBody>
      </p:sp>
      <p:sp>
        <p:nvSpPr>
          <p:cNvPr id="13" name="source-25 บันทึกเลขมิเตอร์รายเดือน">
            <a:extLst xmlns:a="http://schemas.openxmlformats.org/drawingml/2006/main">
              <a:ext uri="{FF2B5EF4-FFF2-40B4-BE49-F238E27FC236}">
                <a16:creationId xmlns:a16="http://schemas.microsoft.com/office/drawing/2014/main" id="{D1332305-31BB-4158-9EFE-77EA6D25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388" y="5705475"/>
            <a:ext cx="216083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516B63"/>
                </a:solidFill>
                <a:latin typeface="Thonburi"/>
                <a:ea typeface="Thonburi"/>
                <a:cs typeface="Thonburi"/>
              </a:rPr>
              <a:t>บันทึกเลขมิเตอร์รายเดือน</a:t>
            </a:r>
          </a:p>
        </p:txBody>
      </p:sp>
      <p:sp>
        <p:nvSpPr>
          <p:cNvPr id="14" name="source-27">
            <a:extLst xmlns:a="http://schemas.openxmlformats.org/drawingml/2006/main">
              <a:ext uri="{FF2B5EF4-FFF2-40B4-BE49-F238E27FC236}">
                <a16:creationId xmlns:a16="http://schemas.microsoft.com/office/drawing/2014/main" id="{2DE42BF8-172D-4069-B021-FFB09091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578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0F7F3"/>
          </a:solidFill>
          <a:ln xmlns:a="http://schemas.openxmlformats.org/drawingml/2006/main" w="14288">
            <a:solidFill>
              <a:srgbClr val="BFD8C9"/>
            </a:solidFill>
            <a:prstDash val="solid"/>
          </a:ln>
        </p:spPr>
      </p:sp>
      <p:sp>
        <p:nvSpPr>
          <p:cNvPr id="15" name="source-28 จัดการบิลรายเดือน">
            <a:extLst xmlns:a="http://schemas.openxmlformats.org/drawingml/2006/main">
              <a:ext uri="{FF2B5EF4-FFF2-40B4-BE49-F238E27FC236}">
                <a16:creationId xmlns:a16="http://schemas.microsoft.com/office/drawing/2014/main" id="{EB8C3A3B-FEAF-454C-8D31-1FB26F16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754" y="5334000"/>
            <a:ext cx="2101304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จัดการบิลรายเดือน</a:t>
            </a:r>
          </a:p>
        </p:txBody>
      </p:sp>
      <p:sp>
        <p:nvSpPr>
          <p:cNvPr id="16" name="source-29 คำนวณยอด · สร้าง · อนุมัติบิล">
            <a:extLst xmlns:a="http://schemas.openxmlformats.org/drawingml/2006/main">
              <a:ext uri="{FF2B5EF4-FFF2-40B4-BE49-F238E27FC236}">
                <a16:creationId xmlns:a16="http://schemas.microsoft.com/office/drawing/2014/main" id="{FC8AD6B8-AD1B-437E-9ECC-5F666059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786" y="5705475"/>
            <a:ext cx="27311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516B63"/>
                </a:solidFill>
                <a:latin typeface="Thonburi"/>
                <a:ea typeface="Thonburi"/>
                <a:cs typeface="Thonburi"/>
              </a:rPr>
              <a:t>คำนวณยอด · สร้าง · อนุมัติบิล</a:t>
            </a:r>
          </a:p>
        </p:txBody>
      </p:sp>
      <p:sp>
        <p:nvSpPr>
          <p:cNvPr id="17" name="source-31">
            <a:extLst xmlns:a="http://schemas.openxmlformats.org/drawingml/2006/main">
              <a:ext uri="{FF2B5EF4-FFF2-40B4-BE49-F238E27FC236}">
                <a16:creationId xmlns:a16="http://schemas.microsoft.com/office/drawing/2014/main" id="{765F6C8D-8E14-427C-BAD9-95D27060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5532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0F7F3"/>
          </a:solidFill>
          <a:ln xmlns:a="http://schemas.openxmlformats.org/drawingml/2006/main" w="14288">
            <a:solidFill>
              <a:srgbClr val="BFD8C9"/>
            </a:solidFill>
            <a:prstDash val="solid"/>
          </a:ln>
        </p:spPr>
      </p:sp>
      <p:sp>
        <p:nvSpPr>
          <p:cNvPr id="18" name="source-32 ยืนยันรับชำระเงินสด">
            <a:extLst xmlns:a="http://schemas.openxmlformats.org/drawingml/2006/main">
              <a:ext uri="{FF2B5EF4-FFF2-40B4-BE49-F238E27FC236}">
                <a16:creationId xmlns:a16="http://schemas.microsoft.com/office/drawing/2014/main" id="{F1A42321-305B-4CEB-B2B7-3F057CEA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915" y="6629400"/>
            <a:ext cx="223301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ยืนยันรับชำระเงินสด</a:t>
            </a:r>
          </a:p>
        </p:txBody>
      </p:sp>
      <p:sp>
        <p:nvSpPr>
          <p:cNvPr id="19" name="source-33 บันทึกการรับเงินและปรับสถานะบิล">
            <a:extLst xmlns:a="http://schemas.openxmlformats.org/drawingml/2006/main">
              <a:ext uri="{FF2B5EF4-FFF2-40B4-BE49-F238E27FC236}">
                <a16:creationId xmlns:a16="http://schemas.microsoft.com/office/drawing/2014/main" id="{864B8DD9-3DA9-4912-A779-9B11A4F6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843" y="7000875"/>
            <a:ext cx="285705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516B63"/>
                </a:solidFill>
                <a:latin typeface="Thonburi"/>
                <a:ea typeface="Thonburi"/>
                <a:cs typeface="Thonburi"/>
              </a:rPr>
              <a:t>บันทึกการรับเงินและปรับสถานะบิล</a:t>
            </a:r>
          </a:p>
        </p:txBody>
      </p:sp>
      <p:sp>
        <p:nvSpPr>
          <p:cNvPr id="20" name="source-35">
            <a:extLst xmlns:a="http://schemas.openxmlformats.org/drawingml/2006/main">
              <a:ext uri="{FF2B5EF4-FFF2-40B4-BE49-F238E27FC236}">
                <a16:creationId xmlns:a16="http://schemas.microsoft.com/office/drawing/2014/main" id="{CBD05FEE-8F13-4EB2-B2B0-03C1CC70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5532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76B5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source-36 ออกใบเสร็จรับเงิน">
            <a:extLst xmlns:a="http://schemas.openxmlformats.org/drawingml/2006/main">
              <a:ext uri="{FF2B5EF4-FFF2-40B4-BE49-F238E27FC236}">
                <a16:creationId xmlns:a16="http://schemas.microsoft.com/office/drawing/2014/main" id="{1E08C712-F481-4E31-872F-5627BD54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900" y="6629400"/>
            <a:ext cx="2025848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ออกใบเสร็จรับเงิน</a:t>
            </a:r>
          </a:p>
        </p:txBody>
      </p:sp>
      <p:sp>
        <p:nvSpPr>
          <p:cNvPr id="22" name="source-37 แสดงและพิมพ์ใบเสร็จ">
            <a:extLst xmlns:a="http://schemas.openxmlformats.org/drawingml/2006/main">
              <a:ext uri="{FF2B5EF4-FFF2-40B4-BE49-F238E27FC236}">
                <a16:creationId xmlns:a16="http://schemas.microsoft.com/office/drawing/2014/main" id="{8C108549-AEAC-4BBB-A2FE-2E00308C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199" y="7000875"/>
            <a:ext cx="190113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2F1E9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E2F1E9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E2F1E9"/>
                </a:solidFill>
                <a:latin typeface="Thonburi"/>
                <a:ea typeface="Thonburi"/>
                <a:cs typeface="Thonburi"/>
              </a:rPr>
              <a:t>แสดงและพิมพ์ใบเสร็จ</a:t>
            </a:r>
          </a:p>
        </p:txBody>
      </p:sp>
      <p:sp>
        <p:nvSpPr>
          <p:cNvPr id="23" name="source-17 Web App · Node.js + Express + EJS">
            <a:extLst xmlns:a="http://schemas.openxmlformats.org/drawingml/2006/main">
              <a:ext uri="{FF2B5EF4-FFF2-40B4-BE49-F238E27FC236}">
                <a16:creationId xmlns:a16="http://schemas.microsoft.com/office/drawing/2014/main" id="{FEEE888C-BD72-4DF3-BEC5-BE4D2D5C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489079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240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Web App · Node.js + Express + EJS</a:t>
            </a:r>
          </a:p>
        </p:txBody>
      </p:sp>
      <p:sp>
        <p:nvSpPr>
          <p:cNvPr id="24" name="source-18 เข้าสู่ระบบ (Login) และตรวจสอบสิทธิ์ผู้ใช้งาน">
            <a:extLst xmlns:a="http://schemas.openxmlformats.org/drawingml/2006/main">
              <a:ext uri="{FF2B5EF4-FFF2-40B4-BE49-F238E27FC236}">
                <a16:creationId xmlns:a16="http://schemas.microsoft.com/office/drawing/2014/main" id="{1B3724D0-7AD6-4E70-BC25-DA921867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6"/>
            <a:ext cx="455027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800" b="0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เข้าสู่ระบบ (Login) และตรวจสอบสิทธิ์ผู้ใช้งาน</a:t>
            </a:r>
          </a:p>
        </p:txBody>
      </p:sp>
      <p:sp>
        <p:nvSpPr>
          <p:cNvPr id="25" name="source-38 สิทธิ์การทำงาน">
            <a:extLst xmlns:a="http://schemas.openxmlformats.org/drawingml/2006/main">
              <a:ext uri="{FF2B5EF4-FFF2-40B4-BE49-F238E27FC236}">
                <a16:creationId xmlns:a16="http://schemas.microsoft.com/office/drawing/2014/main" id="{F576FF98-B59C-40A1-AEE8-6FEE834D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53198"/>
            <a:ext cx="14719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สิทธิ์การทำงาน</a:t>
            </a:r>
          </a:p>
        </p:txBody>
      </p:sp>
      <p:sp>
        <p:nvSpPr>
          <p:cNvPr id="26" name="source-39 เจ้าหน้าที่: ดูห้อง / จดมิเตอร์">
            <a:extLst xmlns:a="http://schemas.openxmlformats.org/drawingml/2006/main">
              <a:ext uri="{FF2B5EF4-FFF2-40B4-BE49-F238E27FC236}">
                <a16:creationId xmlns:a16="http://schemas.microsoft.com/office/drawing/2014/main" id="{A06E7365-6CFF-4F8A-ADE6-B1ECE82D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67499"/>
            <a:ext cx="2322470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เจ้าหน้าที่: ดูห้อง / จดมิเตอร์</a:t>
            </a:r>
          </a:p>
        </p:txBody>
      </p:sp>
      <p:sp>
        <p:nvSpPr>
          <p:cNvPr id="27" name="source-40 ผู้ดูแลระบบ: ใช้งานได้ทุกส่วน">
            <a:extLst xmlns:a="http://schemas.openxmlformats.org/drawingml/2006/main">
              <a:ext uri="{FF2B5EF4-FFF2-40B4-BE49-F238E27FC236}">
                <a16:creationId xmlns:a16="http://schemas.microsoft.com/office/drawing/2014/main" id="{5D8E357E-9406-4D18-B187-D707D1F3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2361158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ผู้ดูแลระบบ: ใช้งานได้ทุกส่วน</a:t>
            </a:r>
          </a:p>
        </p:txBody>
      </p:sp>
      <p:sp>
        <p:nvSpPr>
          <p:cNvPr id="28" name="source-43">
            <a:extLst xmlns:a="http://schemas.openxmlformats.org/drawingml/2006/main">
              <a:ext uri="{FF2B5EF4-FFF2-40B4-BE49-F238E27FC236}">
                <a16:creationId xmlns:a16="http://schemas.microsoft.com/office/drawing/2014/main" id="{B60A2846-B15B-4CDF-BB9B-81000704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420100"/>
            <a:ext cx="51816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0EEE5"/>
          </a:solidFill>
          <a:ln xmlns:a="http://schemas.openxmlformats.org/drawingml/2006/main" w="19050">
            <a:solidFill>
              <a:srgbClr val="76A18F"/>
            </a:solidFill>
            <a:prstDash val="solid"/>
          </a:ln>
        </p:spPr>
      </p:sp>
      <p:sp>
        <p:nvSpPr>
          <p:cNvPr id="29" name="source-44 PostgreSQL Database · Supabase">
            <a:extLst xmlns:a="http://schemas.openxmlformats.org/drawingml/2006/main">
              <a:ext uri="{FF2B5EF4-FFF2-40B4-BE49-F238E27FC236}">
                <a16:creationId xmlns:a16="http://schemas.microsoft.com/office/drawing/2014/main" id="{70CE40D5-D61D-41F9-ADEE-8055FD58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521" y="8496300"/>
            <a:ext cx="426660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PostgreSQL Database · Supabase</a:t>
            </a:r>
          </a:p>
        </p:txBody>
      </p:sp>
      <p:sp>
        <p:nvSpPr>
          <p:cNvPr id="30" name="source-45 ห้องพัก · มิเตอร์ · บิล · การรับเงิน · ใบเสร็จ">
            <a:extLst xmlns:a="http://schemas.openxmlformats.org/drawingml/2006/main">
              <a:ext uri="{FF2B5EF4-FFF2-40B4-BE49-F238E27FC236}">
                <a16:creationId xmlns:a16="http://schemas.microsoft.com/office/drawing/2014/main" id="{420F2C52-B065-40E4-A936-0B8D3C88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182" y="8858250"/>
            <a:ext cx="388530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516B63"/>
                </a:solidFill>
                <a:latin typeface="Thonburi"/>
                <a:ea typeface="Thonburi"/>
                <a:cs typeface="Thonburi"/>
              </a:rPr>
              <a:t>ห้องพัก · มิเตอร์ · บิล · การรับเงิน · ใบเสร็จ</a:t>
            </a:r>
          </a:p>
        </p:txBody>
      </p:sp>
      <p:sp>
        <p:nvSpPr>
          <p:cNvPr id="31" name="source-9 ขอบเขตภาคเรียนนี้">
            <a:extLst xmlns:a="http://schemas.openxmlformats.org/drawingml/2006/main">
              <a:ext uri="{FF2B5EF4-FFF2-40B4-BE49-F238E27FC236}">
                <a16:creationId xmlns:a16="http://schemas.microsoft.com/office/drawing/2014/main" id="{8F03ADC5-108B-4DB5-9AA8-6E2215B1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376"/>
            <a:ext cx="259508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240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ขอบเขตภาคเรียนนี้</a:t>
            </a:r>
          </a:p>
        </p:txBody>
      </p:sp>
      <p:sp>
        <p:nvSpPr>
          <p:cNvPr id="32" name="source-12 เน้นการทำงานภายในสำนักงาน ตั้งแต่เข้าสู่ระบบจนถึงออกใบเสร็จ">
            <a:extLst xmlns:a="http://schemas.openxmlformats.org/drawingml/2006/main">
              <a:ext uri="{FF2B5EF4-FFF2-40B4-BE49-F238E27FC236}">
                <a16:creationId xmlns:a16="http://schemas.microsoft.com/office/drawing/2014/main" id="{23289A70-5A32-409A-AD68-313E5197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24125"/>
            <a:ext cx="52847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5B706B"/>
                </a:solidFill>
                <a:latin typeface="Thonburi"/>
                <a:ea typeface="Thonburi"/>
                <a:cs typeface="Thonburi"/>
              </a:rPr>
              <a:t>เน้นการทำงานภายในสำนักงาน ตั้งแต่เข้าสู่ระบบจนถึงออกใบเสร็จ</a:t>
            </a:r>
          </a:p>
        </p:txBody>
      </p:sp>
      <p:sp>
        <p:nvSpPr>
          <p:cNvPr id="33" name="source-42 อ่าน / บันทึกข้อมูลทุกโมดูล">
            <a:extLst xmlns:a="http://schemas.openxmlformats.org/drawingml/2006/main">
              <a:ext uri="{FF2B5EF4-FFF2-40B4-BE49-F238E27FC236}">
                <a16:creationId xmlns:a16="http://schemas.microsoft.com/office/drawing/2014/main" id="{F76DBD51-C113-45DA-9F25-401154BE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962900"/>
            <a:ext cx="23541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5B706B"/>
                </a:solidFill>
                <a:latin typeface="Thonburi"/>
                <a:ea typeface="Thonburi"/>
                <a:cs typeface="Thonburi"/>
              </a:rPr>
              <a:t>อ่าน / บันทึกข้อมูลทุกโมดูล</a:t>
            </a:r>
          </a:p>
        </p:txBody>
      </p:sp>
      <p:sp>
        <p:nvSpPr>
          <p:cNvPr id="34" name="source-46">
            <a:extLst xmlns:a="http://schemas.openxmlformats.org/drawingml/2006/main">
              <a:ext uri="{FF2B5EF4-FFF2-40B4-BE49-F238E27FC236}">
                <a16:creationId xmlns:a16="http://schemas.microsoft.com/office/drawing/2014/main" id="{36CB6D34-C7D4-4CA9-87E5-75276557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885950"/>
            <a:ext cx="5943600" cy="77533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23813">
            <a:solidFill>
              <a:srgbClr val="C7A874"/>
            </a:solidFill>
            <a:prstDash val="dash"/>
          </a:ln>
        </p:spPr>
      </p:sp>
      <p:sp>
        <p:nvSpPr>
          <p:cNvPr id="35" name="source-49">
            <a:extLst xmlns:a="http://schemas.openxmlformats.org/drawingml/2006/main">
              <a:ext uri="{FF2B5EF4-FFF2-40B4-BE49-F238E27FC236}">
                <a16:creationId xmlns:a16="http://schemas.microsoft.com/office/drawing/2014/main" id="{BCEBDDD5-44EC-4FD4-AE6A-1E55E060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14675"/>
            <a:ext cx="4762500" cy="466725"/>
          </a:xfrm>
          <a:prstGeom xmlns:a="http://schemas.openxmlformats.org/drawingml/2006/main" prst="roundRect">
            <a:avLst>
              <a:gd name="adj" fmla="val 48980"/>
            </a:avLst>
          </a:prstGeom>
          <a:solidFill xmlns:a="http://schemas.openxmlformats.org/drawingml/2006/main">
            <a:srgbClr val="F1E8D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source-50 ส่วนขยายหลังขอบเขตภาคเรียนนี้">
            <a:extLst xmlns:a="http://schemas.openxmlformats.org/drawingml/2006/main">
              <a:ext uri="{FF2B5EF4-FFF2-40B4-BE49-F238E27FC236}">
                <a16:creationId xmlns:a16="http://schemas.microsoft.com/office/drawing/2014/main" id="{94D3C879-90CC-419A-B127-7BA3DA7B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841" y="3162289"/>
            <a:ext cx="317146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80581F"/>
                </a:solidFill>
                <a:latin typeface="Thonburi"/>
                <a:ea typeface="Thonburi"/>
                <a:cs typeface="Thonburi"/>
              </a:rPr>
              <a:t>ส่วนขยายหลังขอบเขตภาคเรียนนี้</a:t>
            </a:r>
          </a:p>
        </p:txBody>
      </p:sp>
      <p:sp>
        <p:nvSpPr>
          <p:cNvPr id="37" name="source-52">
            <a:extLst xmlns:a="http://schemas.openxmlformats.org/drawingml/2006/main">
              <a:ext uri="{FF2B5EF4-FFF2-40B4-BE49-F238E27FC236}">
                <a16:creationId xmlns:a16="http://schemas.microsoft.com/office/drawing/2014/main" id="{D4BC8535-C739-4509-ADE7-26969F0E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000500"/>
            <a:ext cx="4762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A874"/>
            </a:solidFill>
            <a:prstDash val="dash"/>
          </a:ln>
        </p:spPr>
      </p:sp>
      <p:sp>
        <p:nvSpPr>
          <p:cNvPr id="38" name="source-53 บริการส่งข้อความแจ้งเตือน">
            <a:extLst xmlns:a="http://schemas.openxmlformats.org/drawingml/2006/main">
              <a:ext uri="{FF2B5EF4-FFF2-40B4-BE49-F238E27FC236}">
                <a16:creationId xmlns:a16="http://schemas.microsoft.com/office/drawing/2014/main" id="{BD483F36-10DE-4C3D-8C2B-9B7C9D24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478" y="4114800"/>
            <a:ext cx="2902744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80581F"/>
                </a:solidFill>
                <a:latin typeface="Thonburi"/>
                <a:ea typeface="Thonburi"/>
                <a:cs typeface="Thonburi"/>
              </a:rPr>
              <a:t>บริการส่งข้อความแจ้งเตือน</a:t>
            </a:r>
          </a:p>
        </p:txBody>
      </p:sp>
      <p:sp>
        <p:nvSpPr>
          <p:cNvPr id="39" name="source-54 ส่งบิล · เตือนชำระ / ค้างชำระ · ประกาศ">
            <a:extLst xmlns:a="http://schemas.openxmlformats.org/drawingml/2006/main">
              <a:ext uri="{FF2B5EF4-FFF2-40B4-BE49-F238E27FC236}">
                <a16:creationId xmlns:a16="http://schemas.microsoft.com/office/drawing/2014/main" id="{3C2B47D9-126F-402D-838F-1BE3ECFD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1670" y="4514850"/>
            <a:ext cx="348034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ส่งบิล · เตือนชำระ / ค้างชำระ · ประกาศ</a:t>
            </a:r>
          </a:p>
        </p:txBody>
      </p:sp>
      <p:sp>
        <p:nvSpPr>
          <p:cNvPr id="40" name="source-56">
            <a:extLst xmlns:a="http://schemas.openxmlformats.org/drawingml/2006/main">
              <a:ext uri="{FF2B5EF4-FFF2-40B4-BE49-F238E27FC236}">
                <a16:creationId xmlns:a16="http://schemas.microsoft.com/office/drawing/2014/main" id="{6B610948-C3C7-414F-8C3D-D746525B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524500"/>
            <a:ext cx="4762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A874"/>
            </a:solidFill>
            <a:prstDash val="dash"/>
          </a:ln>
        </p:spPr>
      </p:sp>
      <p:sp>
        <p:nvSpPr>
          <p:cNvPr id="41" name="source-57 LINE Messaging API">
            <a:extLst xmlns:a="http://schemas.openxmlformats.org/drawingml/2006/main">
              <a:ext uri="{FF2B5EF4-FFF2-40B4-BE49-F238E27FC236}">
                <a16:creationId xmlns:a16="http://schemas.microsoft.com/office/drawing/2014/main" id="{092EF456-689F-4FF8-89DB-76EE6477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0664" y="5638800"/>
            <a:ext cx="2502396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80581F"/>
                </a:solidFill>
                <a:latin typeface="Thonburi"/>
                <a:ea typeface="Thonburi"/>
                <a:cs typeface="Thonburi"/>
              </a:rPr>
              <a:t>LINE Messaging API</a:t>
            </a:r>
          </a:p>
        </p:txBody>
      </p:sp>
      <p:sp>
        <p:nvSpPr>
          <p:cNvPr id="42" name="source-58 เชื่อมต่อกับ LINE Official Account">
            <a:extLst xmlns:a="http://schemas.openxmlformats.org/drawingml/2006/main">
              <a:ext uri="{FF2B5EF4-FFF2-40B4-BE49-F238E27FC236}">
                <a16:creationId xmlns:a16="http://schemas.microsoft.com/office/drawing/2014/main" id="{04269680-5C96-4CDD-BACB-A14C3F98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657" y="6038850"/>
            <a:ext cx="304844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เชื่อมต่อกับ LINE Official Account</a:t>
            </a:r>
          </a:p>
        </p:txBody>
      </p:sp>
      <p:sp>
        <p:nvSpPr>
          <p:cNvPr id="43" name="source-60">
            <a:extLst xmlns:a="http://schemas.openxmlformats.org/drawingml/2006/main">
              <a:ext uri="{FF2B5EF4-FFF2-40B4-BE49-F238E27FC236}">
                <a16:creationId xmlns:a16="http://schemas.microsoft.com/office/drawing/2014/main" id="{94CC67BB-9940-4772-92E7-87E7F91C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7048500"/>
            <a:ext cx="4762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A874"/>
            </a:solidFill>
            <a:prstDash val="dash"/>
          </a:ln>
        </p:spPr>
      </p:sp>
      <p:sp>
        <p:nvSpPr>
          <p:cNvPr id="44" name="source-61 ผู้พักอาศัยผ่าน LINE OA">
            <a:extLst xmlns:a="http://schemas.openxmlformats.org/drawingml/2006/main">
              <a:ext uri="{FF2B5EF4-FFF2-40B4-BE49-F238E27FC236}">
                <a16:creationId xmlns:a16="http://schemas.microsoft.com/office/drawing/2014/main" id="{44261829-2438-45FB-95E3-5371BF38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7272" y="7162800"/>
            <a:ext cx="2711209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80581F"/>
                </a:solidFill>
                <a:latin typeface="Thonburi"/>
                <a:ea typeface="Thonburi"/>
                <a:cs typeface="Thonburi"/>
              </a:rPr>
              <a:t>ผู้พักอาศัยผ่าน LINE OA</a:t>
            </a:r>
          </a:p>
        </p:txBody>
      </p:sp>
      <p:sp>
        <p:nvSpPr>
          <p:cNvPr id="45" name="source-62 รับบิลและข้อความแจ้งเตือน">
            <a:extLst xmlns:a="http://schemas.openxmlformats.org/drawingml/2006/main">
              <a:ext uri="{FF2B5EF4-FFF2-40B4-BE49-F238E27FC236}">
                <a16:creationId xmlns:a16="http://schemas.microsoft.com/office/drawing/2014/main" id="{B46B2F0B-C142-4B5D-BBA3-7A379579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6751" y="7562850"/>
            <a:ext cx="231025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รับบิลและข้อความแจ้งเตือน</a:t>
            </a:r>
          </a:p>
        </p:txBody>
      </p:sp>
      <p:sp>
        <p:nvSpPr>
          <p:cNvPr id="46" name="source-47 แนวทางพัฒนาต่อไป">
            <a:extLst xmlns:a="http://schemas.openxmlformats.org/drawingml/2006/main">
              <a:ext uri="{FF2B5EF4-FFF2-40B4-BE49-F238E27FC236}">
                <a16:creationId xmlns:a16="http://schemas.microsoft.com/office/drawing/2014/main" id="{E55D5995-DCA8-4022-9E06-D822AC51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057400"/>
            <a:ext cx="270614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pPr>
            <a:r>
              <a:rPr sz="2400" b="1">
                <a:solidFill>
                  <a:srgbClr val="80581F"/>
                </a:solidFill>
                <a:latin typeface="Thonburi"/>
                <a:ea typeface="Thonburi"/>
                <a:cs typeface="Thonburi"/>
              </a:rPr>
              <a:t>แนวทางพัฒนาต่อไป</a:t>
            </a:r>
          </a:p>
        </p:txBody>
      </p:sp>
      <p:sp>
        <p:nvSpPr>
          <p:cNvPr id="47" name="source-48 เชื่อมการแจ้งเตือนถึงผู้พักอาศัยผ่าน LINE">
            <a:extLst xmlns:a="http://schemas.openxmlformats.org/drawingml/2006/main">
              <a:ext uri="{FF2B5EF4-FFF2-40B4-BE49-F238E27FC236}">
                <a16:creationId xmlns:a16="http://schemas.microsoft.com/office/drawing/2014/main" id="{BC4179D4-D316-4752-A784-19A37705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524125"/>
            <a:ext cx="3400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เชื่อมการแจ้งเตือนถึงผู้พักอาศัยผ่าน LINE</a:t>
            </a:r>
          </a:p>
        </p:txBody>
      </p:sp>
      <p:sp>
        <p:nvSpPr>
          <p:cNvPr id="48" name="source-64 มีส่วนรับ Webhook และผูกบัญชีเตรียมไว้แล้ว">
            <a:extLst xmlns:a="http://schemas.openxmlformats.org/drawingml/2006/main">
              <a:ext uri="{FF2B5EF4-FFF2-40B4-BE49-F238E27FC236}">
                <a16:creationId xmlns:a16="http://schemas.microsoft.com/office/drawing/2014/main" id="{01ED005C-62AD-4B59-A11F-ECFC0970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8467725"/>
            <a:ext cx="376326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80581F"/>
                </a:solidFill>
                <a:latin typeface="Thonburi"/>
                <a:ea typeface="Thonburi"/>
                <a:cs typeface="Thonburi"/>
              </a:rPr>
              <a:t>มีส่วนรับ Webhook และผูกบัญชีเตรียมไว้แล้ว</a:t>
            </a:r>
          </a:p>
        </p:txBody>
      </p:sp>
      <p:sp>
        <p:nvSpPr>
          <p:cNvPr id="49" name="source-65 ขั้นต่อไปคือเชื่อม API เพื่อส่งข้อความจริง">
            <a:extLst xmlns:a="http://schemas.openxmlformats.org/drawingml/2006/main">
              <a:ext uri="{FF2B5EF4-FFF2-40B4-BE49-F238E27FC236}">
                <a16:creationId xmlns:a16="http://schemas.microsoft.com/office/drawing/2014/main" id="{26BC7023-613F-485D-A688-0D298EF5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8782047"/>
            <a:ext cx="334863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ขั้นต่อไปคือเชื่อม API เพื่อส่งข้อความจริง</a:t>
            </a:r>
          </a:p>
        </p:txBody>
      </p:sp>
      <p:sp>
        <p:nvSpPr>
          <p:cNvPr id="50" name="source-2 Block Diagram">
            <a:extLst xmlns:a="http://schemas.openxmlformats.org/drawingml/2006/main">
              <a:ext uri="{FF2B5EF4-FFF2-40B4-BE49-F238E27FC236}">
                <a16:creationId xmlns:a16="http://schemas.microsoft.com/office/drawing/2014/main" id="{6294544C-47E1-4D67-BBB8-26994A3C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3801814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831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83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8312D"/>
                </a:solidFill>
                <a:latin typeface="Arial"/>
                <a:ea typeface="Arial"/>
                <a:cs typeface="Arial"/>
              </a:rPr>
              <a:t>Block Diagram</a:t>
            </a:r>
          </a:p>
        </p:txBody>
      </p:sp>
      <p:sp>
        <p:nvSpPr>
          <p:cNvPr id="51" name="source-3 ระบบจัดการห้องพักและค่าสาธารณูปโภค">
            <a:extLst xmlns:a="http://schemas.openxmlformats.org/drawingml/2006/main">
              <a:ext uri="{FF2B5EF4-FFF2-40B4-BE49-F238E27FC236}">
                <a16:creationId xmlns:a16="http://schemas.microsoft.com/office/drawing/2014/main" id="{760E1A16-7CBC-4222-AE1F-C6877C16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62050"/>
            <a:ext cx="398189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800" b="0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ระบบจัดการห้องพักและค่าสาธารณูปโภค</a:t>
            </a:r>
          </a:p>
        </p:txBody>
      </p:sp>
      <p:sp>
        <p:nvSpPr>
          <p:cNvPr id="52" name="source-5 พัฒนาแล้ว">
            <a:extLst xmlns:a="http://schemas.openxmlformats.org/drawingml/2006/main">
              <a:ext uri="{FF2B5EF4-FFF2-40B4-BE49-F238E27FC236}">
                <a16:creationId xmlns:a16="http://schemas.microsoft.com/office/drawing/2014/main" id="{B2D0E00F-A2A9-49F4-A7F9-25A3C921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1038225"/>
            <a:ext cx="101396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5B706B"/>
                </a:solidFill>
                <a:latin typeface="Thonburi"/>
                <a:ea typeface="Thonburi"/>
                <a:cs typeface="Thonburi"/>
              </a:rPr>
              <a:t>พัฒนาแล้ว</a:t>
            </a:r>
          </a:p>
        </p:txBody>
      </p:sp>
      <p:sp>
        <p:nvSpPr>
          <p:cNvPr id="53" name="source-7 พัฒนาต่อไป">
            <a:extLst xmlns:a="http://schemas.openxmlformats.org/drawingml/2006/main">
              <a:ext uri="{FF2B5EF4-FFF2-40B4-BE49-F238E27FC236}">
                <a16:creationId xmlns:a16="http://schemas.microsoft.com/office/drawing/2014/main" id="{B5EC690B-0C4E-4847-A49E-E47C817E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75" y="1038225"/>
            <a:ext cx="112960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5B706B"/>
                </a:solidFill>
                <a:latin typeface="Thonburi"/>
                <a:ea typeface="Thonburi"/>
                <a:cs typeface="Thonburi"/>
              </a:rPr>
              <a:t>พัฒนาต่อไป</a:t>
            </a:r>
          </a:p>
        </p:txBody>
      </p:sp>
      <p:sp>
        <p:nvSpPr>
          <p:cNvPr id="54" name="source-66 ภาพรวมระบบ: กระบวนการหลักที่พัฒนาแล้วในภาคเรียนนี้ และแผนขยายการสื่อสารผ่าน LINE">
            <a:extLst xmlns:a="http://schemas.openxmlformats.org/drawingml/2006/main">
              <a:ext uri="{FF2B5EF4-FFF2-40B4-BE49-F238E27FC236}">
                <a16:creationId xmlns:a16="http://schemas.microsoft.com/office/drawing/2014/main" id="{7D90BFF9-6167-4039-8CAC-90282ED8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72624"/>
            <a:ext cx="672554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ภาพรวมระบบ: กระบวนการหลักที่พัฒนาแล้วในภาคเรียนนี้ และแผนขยายการสื่อสารผ่าน LINE</a:t>
            </a:r>
          </a:p>
        </p:txBody>
      </p: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602F33-1F4E-4FBB-972C-F2987D54C99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00925" y="56959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B5B"/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1C1769-4138-4629-951F-AC8C8EDDE91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01150" y="618172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B5B"/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75AD15-9663-4721-B64D-413AE4D9B488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410450" y="69913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B5B"/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449292-EB72-437F-8C49-D10A840C448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24550" y="3676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B5B"/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9613FE-10BE-43D3-AA27-DDE4EAD94A8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24550" y="786765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B5B"/>
            </a:solidFill>
            <a:prstDash val="solid"/>
            <a:headEnd type="arrow" w="lg" len="lg"/>
            <a:tailEnd type="arrow" w="lg" len="lg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5F82DB-F761-47F7-BDF1-DF02295768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706600" y="501015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6A24"/>
            </a:solidFill>
            <a:prstDash val="dash"/>
            <a:headEnd type="none" w="lg" len="lg"/>
            <a:tailEnd type="arrow" w="lg" len="lg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BD587D-E360-41F7-824C-9E999B96F1D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706600" y="653415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6A24"/>
            </a:solidFill>
            <a:prstDash val="dash"/>
            <a:headEnd type="none" w="lg" len="lg"/>
            <a:tailEnd type="arrow" w="lg" len="lg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CB37BE-8540-46CF-B9EF-CB81D4418D5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954000" y="1190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76B5B"/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114A83-6EB9-4EB5-B6CF-8708ECA8580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192375" y="1190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6A24"/>
            </a:solidFill>
            <a:prstDash val="dash"/>
            <a:headEnd type="none" w="lg" len="lg"/>
            <a:tailEnd type="none" w="lg" len="lg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AD8127-1E3C-4C2C-9C14-C7AA2EB7DFF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5029200"/>
            <a:ext cx="9410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9E1"/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9B0D03-592E-4564-AAC3-451A0F28B4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25350" y="8362950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6D8BF"/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CC20E72-1B08-44F0-8BDC-F810B96389C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34700" y="4476750"/>
            <a:ext cx="13239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6A24"/>
            </a:solidFill>
            <a:prstDash val="dash"/>
            <a:headEnd type="none" w="lg" len="lg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596036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2026-10-16T10:05:29.5660000Z</dcterms:created>
  <dcterms:modified xsi:type="dcterms:W3CDTF">2026-10-16T10:05:29.5670000Z</dcterms:modified>
</coreProperties>
</file>