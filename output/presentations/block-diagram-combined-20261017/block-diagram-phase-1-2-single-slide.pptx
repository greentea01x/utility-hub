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ภาพรวมแบ่งขอบเขต Phase 1 และ Phase 2 ไว้ในหน้าเดียว</a:t>
            </a:r>
          </a:p>
          <a:p>
            <a:endParaRPr/>
          </a:p>
          <a:p>
            <a:r>
              <a:t>Phase 1 คือระบบเว็บไซต์หลัก เจ้าหน้าที่ดูภาพรวมที่ไม่มีข้อมูลการเงิน ดูห้อง และบันทึกมิเตอร์ได้ การบันทึกมิเตอร์ต้องระบุชื่อช่างทุกครั้ง หลังเลขมิเตอร์ครบ Admin ต้องสั่งสร้างบิล Draft จากค่าน้ำ ค่าไฟ และค่าส่วนกลาง จากนั้นอนุมัติเป็น Unpaid จึงรับเงินสดเต็มยอดได้ ระบบสร้างรายการรับเงินและใบเสร็จ พร้อมเปลี่ยนบิลเป็น Paid ใน transaction เดียวกัน</a:t>
            </a:r>
          </a:p>
          <a:p>
            <a:endParaRPr/>
          </a:p>
          <a:p>
            <a:r>
              <a:t>ฐานข้อมูล PostgreSQL ใช้ร่วมกันทุกโมดูล เส้นสองหัวระหว่าง Web App และฐานข้อมูลคืออ่านและบันทึกข้อมูล รายงานอ่านข้อมูลสรุปจากฐานข้อมูล</a:t>
            </a:r>
          </a:p>
          <a:p>
            <a:endParaRPr/>
          </a:p>
          <a:p>
            <a:r>
              <a:t>Phase 2 รวบรวมงาน LINE ทั้งหมด แม้มีโค้ดบางส่วนเตรียมไว้แล้ว Admin สร้างรหัสผูกบัญชีและผู้พักอาศัยส่งรหัสผ่าน LINE จากนั้น Webhook ตรวจลายเซ็นและรหัสก่อนบันทึก LINE User ID</a:t>
            </a:r>
          </a:p>
          <a:p>
            <a:endParaRPr/>
          </a:p>
          <a:p>
            <a:r>
              <a:t>เส้นจากบิลที่อนุมัติไปคิวแจ้งเตือนหมายถึงบิล Unpaid และวันครบกำหนดเป็นข้อมูลสำหรับงานตรวจรายวันเมื่อถูกเรียก ไม่ใช่ส่งข้อความทันทีเมื่ออนุมัติ มีโค้ดจัดคิวก่อนครบกำหนดและค้างชำระแล้ว แต่ยังต้องเชื่อมการส่งจริงกับ LINE Messaging API</a:t>
            </a:r>
          </a:p>
          <a:p>
            <a:endParaRPr/>
          </a:p>
          <a:p>
            <a:r>
              <a:t>ประกาศบันทึกในเว็บไซต์ได้แล้ว การส่งบิล แจ้งเตือน และกระจายประกาศผ่าน LINE อยู่ใน Phase 2 ส่วนส่งจริงใช้เส้นประ</a:t>
            </a:r>
          </a:p>
          <a:p>
            <a:endParaRPr/>
          </a:p>
          <a:p>
            <a:r>
              <a:t>แหล่งโค้ด:</a:t>
            </a:r>
          </a:p>
          <a:p>
            <a:r>
              <a:t>/Users/initia-army/Documents/juristic-platform/app.js</a:t>
            </a:r>
          </a:p>
          <a:p>
            <a:r>
              <a:t>/Users/initia-army/Documents/juristic-platform/lib/permissions.js</a:t>
            </a:r>
          </a:p>
          <a:p>
            <a:r>
              <a:t>/Users/initia-army/Documents/juristic-platform/services/readings.js</a:t>
            </a:r>
          </a:p>
          <a:p>
            <a:r>
              <a:t>/Users/initia-army/Documents/juristic-platform/services/billing.js</a:t>
            </a:r>
          </a:p>
          <a:p>
            <a:r>
              <a:t>/Users/initia-army/Documents/juristic-platform/services/payment.js</a:t>
            </a:r>
          </a:p>
          <a:p>
            <a:r>
              <a:t>/Users/initia-army/Documents/juristic-platform/routes/reports.js</a:t>
            </a:r>
          </a:p>
          <a:p>
            <a:r>
              <a:t>/Users/initia-army/Documents/juristic-platform/routes/line.js</a:t>
            </a:r>
          </a:p>
          <a:p>
            <a:r>
              <a:t>/Users/initia-army/Documents/juristic-platform/services/linking.js</a:t>
            </a:r>
          </a:p>
          <a:p>
            <a:r>
              <a:t>/Users/initia-army/Documents/juristic-platform/services/jobs.js</a:t>
            </a:r>
          </a:p>
          <a:p>
            <a:r>
              <a:t>/Users/initia-army/Documents/juristic-platform/routes/notifications.js</a:t>
            </a:r>
          </a:p>
          <a:p>
            <a:r>
              <a:t>/Users/initia-army/Documents/juristic-platform/services/announcements.js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197BAA-C2A2-4C56-ADA4-F7EC9F2D6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57D1E24-D36D-4D7A-8FD4-C6A47EC94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7B82D10-B72B-4109-B5A5-F19DB2EF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971F2F2-6814-41CA-B91A-75273BB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CCD7568-231E-4B5A-A6F5-6A8E053D6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A93EA7D-7E3A-4928-A8A8-7EE037F4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AEA743E-DCEE-44B5-AEEF-C69AEB797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2E3ADF0-D1C5-4906-8004-90BE829D334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9FDBA3C-B6DA-44AC-B0C6-CF2AAE14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1012315-EC41-4D3E-A2D8-FD96B99F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AFC6955-E2D0-48E5-A168-768D5DB6C76B}"/>
              </a:ext>
            </a:extLst>
          </p:cNvPr>
          <p:cNvCxnSpPr>
            <a:stCxn id="40" idx="2"/>
            <a:endCxn id="41" idx="0"/>
          </p:cNvCxnSpPr>
          <p:nvPr/>
        </p:nvCxnSpPr>
        <p:spPr>
          <a:xfrm>
            <a:off x="15525750" y="8048625"/>
            <a:ext cx="0" cy="762000"/>
          </a:xfrm>
          <a:prstGeom prst="straightConnector1">
            <a:avLst/>
          </a:prstGeom>
          <a:ln w="25718">
            <a:solidFill>
              <a:srgbClr val="777777"/>
            </a:solidFill>
            <a:prstDash val="dash"/>
            <a:tailEnd type="triangle" w="med" len="med"/>
          </a:ln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ED9F1E4-AA3D-4BC5-B62A-8CB56EEAA828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15525750" y="6619875"/>
            <a:ext cx="0" cy="476250"/>
          </a:xfrm>
          <a:prstGeom prst="straightConnector1">
            <a:avLst/>
          </a:prstGeom>
          <a:ln w="25718">
            <a:solidFill>
              <a:srgbClr val="777777"/>
            </a:solidFill>
            <a:prstDash val="dash"/>
            <a:tailEnd type="triangle" w="med" len="med"/>
          </a:ln>
        </p:spPr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1C3C245A-D565-4F36-A6B0-6ECE1F22D759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096000" y="6072188"/>
            <a:ext cx="7810500" cy="595313"/>
          </a:xfrm>
          <a:prstGeom prst="bentConnector3">
            <a:avLst>
              <a:gd name="adj1" fmla="val 0"/>
            </a:avLst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3FD0D61-6B74-478E-910C-23A01CD57CC5}"/>
              </a:ext>
            </a:extLst>
          </p:cNvPr>
          <p:cNvCxnSpPr>
            <a:cxnSpLocks/>
          </p:cNvCxnSpPr>
          <p:nvPr/>
        </p:nvCxnSpPr>
        <p:spPr>
          <a:xfrm>
            <a:off x="14668500" y="3524250"/>
            <a:ext cx="762000" cy="0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92D291-9A18-4C05-B6F6-0DD9D8C9EDC1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9334500" y="7453313"/>
            <a:ext cx="381000" cy="0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23DBE19-CAD3-4228-9F0D-3CB6A9650266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7048500" y="7453313"/>
            <a:ext cx="381000" cy="0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87CDAF-CC28-468A-A440-9D3B95092C17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4762500" y="7453313"/>
            <a:ext cx="381000" cy="0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50FF70-3526-4379-B2F5-EFC4238A485E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476500" y="7453313"/>
            <a:ext cx="381000" cy="0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3188FA0-454C-4269-8043-244325B7BD7A}"/>
              </a:ext>
            </a:extLst>
          </p:cNvPr>
          <p:cNvCxnSpPr>
            <a:stCxn id="9" idx="2"/>
            <a:endCxn id="18" idx="0"/>
          </p:cNvCxnSpPr>
          <p:nvPr/>
        </p:nvCxnSpPr>
        <p:spPr>
          <a:xfrm flipH="1">
            <a:off x="1524000" y="3714750"/>
            <a:ext cx="5715000" cy="2952750"/>
          </a:xfrm>
          <a:prstGeom prst="bentConnector4">
            <a:avLst>
              <a:gd name="adj1" fmla="val 0"/>
              <a:gd name="adj2" fmla="val 50000"/>
            </a:avLst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ECFF54-7A65-4137-9E38-18C7946CC678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10382250" y="3952875"/>
            <a:ext cx="0" cy="619125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608AE5-8400-4D63-BE3A-AD903CC4C10F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382000" y="3143250"/>
            <a:ext cx="762000" cy="0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B552A7-6FF1-4638-90DE-F45252A1CE5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619750" y="3143250"/>
            <a:ext cx="476250" cy="0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A9B522-2DDB-4619-9F19-303C3BEFD363}"/>
              </a:ext>
            </a:extLst>
          </p:cNvPr>
          <p:cNvCxnSpPr>
            <a:stCxn id="7" idx="6"/>
            <a:endCxn id="8" idx="1"/>
          </p:cNvCxnSpPr>
          <p:nvPr/>
        </p:nvCxnSpPr>
        <p:spPr>
          <a:xfrm>
            <a:off x="2857500" y="3143250"/>
            <a:ext cx="476250" cy="0"/>
          </a:xfrm>
          <a:prstGeom prst="straightConnector1">
            <a:avLst/>
          </a:prstGeom>
          <a:ln w="25718">
            <a:solidFill>
              <a:srgbClr val="252525"/>
            </a:solidFill>
            <a:prstDash val="solid"/>
            <a:tailEnd type="triangle" w="med" len="med"/>
          </a:ln>
        </p:spPr>
      </p:cxnSp>
      <p:sp>
        <p:nvSpPr>
          <p:cNvPr id="2" name="diagram-label">
            <a:extLst>
              <a:ext uri="{FF2B5EF4-FFF2-40B4-BE49-F238E27FC236}">
                <a16:creationId xmlns:a16="http://schemas.microsoft.com/office/drawing/2014/main" id="{1DF842E3-0561-45B0-9F6B-32BCC1100FA0}"/>
              </a:ext>
            </a:extLst>
          </p:cNvPr>
          <p:cNvSpPr>
            <a:spLocks noGrp="1"/>
          </p:cNvSpPr>
          <p:nvPr/>
        </p:nvSpPr>
        <p:spPr>
          <a:xfrm>
            <a:off x="1003635" y="604838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21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r">
              <a:defRPr sz="21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3600" b="0" dirty="0">
                <a:latin typeface="Thonburi"/>
                <a:ea typeface="Thonburi"/>
                <a:cs typeface="Thonburi"/>
              </a:rPr>
              <a:t>Block Diagram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0332EB76-AD15-4DCD-A608-F38CEE49B221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17145000" cy="0"/>
          </a:xfrm>
          <a:prstGeom prst="line">
            <a:avLst/>
          </a:prstGeom>
          <a:ln w="11430">
            <a:solidFill>
              <a:srgbClr val="C5C5C5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CBBCBDD-F6AD-4A66-8827-0F0B420AB532}"/>
              </a:ext>
            </a:extLst>
          </p:cNvPr>
          <p:cNvSpPr>
            <a:spLocks noGrp="1"/>
          </p:cNvSpPr>
          <p:nvPr/>
        </p:nvSpPr>
        <p:spPr>
          <a:xfrm>
            <a:off x="12001500" y="1428750"/>
            <a:ext cx="0" cy="8286750"/>
          </a:xfrm>
          <a:prstGeom prst="line">
            <a:avLst/>
          </a:prstGeom>
          <a:ln w="11430">
            <a:solidFill>
              <a:srgbClr val="C5C5C5"/>
            </a:solidFill>
          </a:ln>
        </p:spPr>
        <p:txBody>
          <a:bodyPr/>
          <a:lstStyle/>
          <a:p>
            <a:endParaRPr lang="en-TH"/>
          </a:p>
        </p:txBody>
      </p:sp>
      <p:sp>
        <p:nvSpPr>
          <p:cNvPr id="5" name="phase1-title">
            <a:extLst>
              <a:ext uri="{FF2B5EF4-FFF2-40B4-BE49-F238E27FC236}">
                <a16:creationId xmlns:a16="http://schemas.microsoft.com/office/drawing/2014/main" id="{DA278EE2-15CF-4AE9-8514-B12BDF827687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28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Phase 1  ระบบเว็บไซต์หลัก</a:t>
            </a:r>
          </a:p>
        </p:txBody>
      </p:sp>
      <p:sp>
        <p:nvSpPr>
          <p:cNvPr id="6" name="phase2-title">
            <a:extLst>
              <a:ext uri="{FF2B5EF4-FFF2-40B4-BE49-F238E27FC236}">
                <a16:creationId xmlns:a16="http://schemas.microsoft.com/office/drawing/2014/main" id="{F4DB8330-2140-4E92-BA6B-22FAC466DB5C}"/>
              </a:ext>
            </a:extLst>
          </p:cNvPr>
          <p:cNvSpPr>
            <a:spLocks noGrp="1"/>
          </p:cNvSpPr>
          <p:nvPr/>
        </p:nvSpPr>
        <p:spPr>
          <a:xfrm>
            <a:off x="12573000" y="1476375"/>
            <a:ext cx="51435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8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28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Phase 2  งาน LINE</a:t>
            </a:r>
          </a:p>
        </p:txBody>
      </p:sp>
      <p:sp>
        <p:nvSpPr>
          <p:cNvPr id="7" name="operator">
            <a:extLst>
              <a:ext uri="{FF2B5EF4-FFF2-40B4-BE49-F238E27FC236}">
                <a16:creationId xmlns:a16="http://schemas.microsoft.com/office/drawing/2014/main" id="{F8D066B7-24F8-4A81-81DF-61305C1BEC59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286000" cy="1143000"/>
          </a:xfrm>
          <a:prstGeom prst="ellipse">
            <a:avLst/>
          </a:prstGeom>
          <a:solidFill>
            <a:srgbClr val="363636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75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75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ผู้ดูแลระบบ /</a:t>
            </a:r>
          </a:p>
          <a:p>
            <a:pPr algn="ctr">
              <a:spcAft>
                <a:spcPts val="250"/>
              </a:spcAft>
              <a:defRPr sz="1875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เจ้าหน้าที่</a:t>
            </a:r>
          </a:p>
        </p:txBody>
      </p:sp>
      <p:sp>
        <p:nvSpPr>
          <p:cNvPr id="8" name="auth">
            <a:extLst>
              <a:ext uri="{FF2B5EF4-FFF2-40B4-BE49-F238E27FC236}">
                <a16:creationId xmlns:a16="http://schemas.microsoft.com/office/drawing/2014/main" id="{20219F85-B0A3-434A-A283-A297567E90C6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2860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เข้าสู่ระบบ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ตรวจตัวตนและสิทธิ์</a:t>
            </a:r>
          </a:p>
        </p:txBody>
      </p:sp>
      <p:sp>
        <p:nvSpPr>
          <p:cNvPr id="9" name="app">
            <a:extLst>
              <a:ext uri="{FF2B5EF4-FFF2-40B4-BE49-F238E27FC236}">
                <a16:creationId xmlns:a16="http://schemas.microsoft.com/office/drawing/2014/main" id="{289EE99E-6369-4B94-8B66-D338590F9163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2286000" cy="1143000"/>
          </a:xfrm>
          <a:prstGeom prst="rect">
            <a:avLst/>
          </a:prstGeom>
          <a:solidFill>
            <a:srgbClr val="F1F1F1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Web App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Node.js + Express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+ EJS</a:t>
            </a:r>
          </a:p>
        </p:txBody>
      </p:sp>
      <p:sp>
        <p:nvSpPr>
          <p:cNvPr id="10" name="database">
            <a:extLst>
              <a:ext uri="{FF2B5EF4-FFF2-40B4-BE49-F238E27FC236}">
                <a16:creationId xmlns:a16="http://schemas.microsoft.com/office/drawing/2014/main" id="{1E98E944-DA99-4BE6-938A-FDC40BAA9245}"/>
              </a:ext>
            </a:extLst>
          </p:cNvPr>
          <p:cNvSpPr>
            <a:spLocks noGrp="1"/>
          </p:cNvSpPr>
          <p:nvPr/>
        </p:nvSpPr>
        <p:spPr>
          <a:xfrm>
            <a:off x="9144000" y="2333625"/>
            <a:ext cx="2476500" cy="1619250"/>
          </a:xfrm>
          <a:prstGeom prst="rect">
            <a:avLst/>
          </a:prstGeom>
          <a:solidFill>
            <a:srgbClr val="F1F1F1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20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20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ฐานข้อมูล</a:t>
            </a:r>
          </a:p>
          <a:p>
            <a:pPr algn="ctr">
              <a:spcAft>
                <a:spcPts val="120"/>
              </a:spcAft>
              <a:defRPr sz="20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0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PostgreSQL</a:t>
            </a:r>
          </a:p>
          <a:p>
            <a:pPr algn="ctr">
              <a:spcAft>
                <a:spcPts val="120"/>
              </a:spcAft>
              <a:defRPr sz="20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0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Supabase</a:t>
            </a:r>
          </a:p>
        </p:txBody>
      </p:sp>
      <p:sp>
        <p:nvSpPr>
          <p:cNvPr id="15" name="reports">
            <a:extLst>
              <a:ext uri="{FF2B5EF4-FFF2-40B4-BE49-F238E27FC236}">
                <a16:creationId xmlns:a16="http://schemas.microsoft.com/office/drawing/2014/main" id="{32FE937C-F500-4B67-AB05-D57E82F4DFC7}"/>
              </a:ext>
            </a:extLst>
          </p:cNvPr>
          <p:cNvSpPr>
            <a:spLocks noGrp="1"/>
          </p:cNvSpPr>
          <p:nvPr/>
        </p:nvSpPr>
        <p:spPr>
          <a:xfrm>
            <a:off x="9144000" y="4572000"/>
            <a:ext cx="24765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ภาพรวม / รายงาน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ข้อมูลสรุปจากระบบ</a:t>
            </a:r>
          </a:p>
        </p:txBody>
      </p:sp>
      <p:sp>
        <p:nvSpPr>
          <p:cNvPr id="17" name="monthly-title">
            <a:extLst>
              <a:ext uri="{FF2B5EF4-FFF2-40B4-BE49-F238E27FC236}">
                <a16:creationId xmlns:a16="http://schemas.microsoft.com/office/drawing/2014/main" id="{EEF74768-8784-4527-A701-D9596C59DCD3}"/>
              </a:ext>
            </a:extLst>
          </p:cNvPr>
          <p:cNvSpPr>
            <a:spLocks noGrp="1"/>
          </p:cNvSpPr>
          <p:nvPr/>
        </p:nvSpPr>
        <p:spPr>
          <a:xfrm>
            <a:off x="2619375" y="5715000"/>
            <a:ext cx="409575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2250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225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ลำดับงานประจำเดือน</a:t>
            </a:r>
          </a:p>
        </p:txBody>
      </p:sp>
      <p:sp>
        <p:nvSpPr>
          <p:cNvPr id="18" name="readings">
            <a:extLst>
              <a:ext uri="{FF2B5EF4-FFF2-40B4-BE49-F238E27FC236}">
                <a16:creationId xmlns:a16="http://schemas.microsoft.com/office/drawing/2014/main" id="{35DE32DC-787F-4E6C-9620-1650FF0C03C3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1905000" cy="15716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จดมิเตอร์</a:t>
            </a:r>
          </a:p>
          <a:p>
            <a:pPr algn="ctr">
              <a:spcAft>
                <a:spcPts val="25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น้ำ / ไฟฟ้า</a:t>
            </a:r>
          </a:p>
          <a:p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ระบุชื่อช่างทุกครั้ง</a:t>
            </a:r>
          </a:p>
        </p:txBody>
      </p:sp>
      <p:sp>
        <p:nvSpPr>
          <p:cNvPr id="19" name="draft">
            <a:extLst>
              <a:ext uri="{FF2B5EF4-FFF2-40B4-BE49-F238E27FC236}">
                <a16:creationId xmlns:a16="http://schemas.microsoft.com/office/drawing/2014/main" id="{F8D4650B-DB0B-4C00-AB54-B50EEEA0B0BA}"/>
              </a:ext>
            </a:extLst>
          </p:cNvPr>
          <p:cNvSpPr>
            <a:spLocks noGrp="1"/>
          </p:cNvSpPr>
          <p:nvPr/>
        </p:nvSpPr>
        <p:spPr>
          <a:xfrm>
            <a:off x="2857500" y="6667500"/>
            <a:ext cx="1905000" cy="15716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สร้างบิลร่าง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Admin สั่งสร้าง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สถานะ Draft</a:t>
            </a:r>
          </a:p>
        </p:txBody>
      </p:sp>
      <p:sp>
        <p:nvSpPr>
          <p:cNvPr id="20" name="approval">
            <a:extLst>
              <a:ext uri="{FF2B5EF4-FFF2-40B4-BE49-F238E27FC236}">
                <a16:creationId xmlns:a16="http://schemas.microsoft.com/office/drawing/2014/main" id="{6BBA30D5-A4D4-4341-91A6-6AC228C5872D}"/>
              </a:ext>
            </a:extLst>
          </p:cNvPr>
          <p:cNvSpPr>
            <a:spLocks noGrp="1"/>
          </p:cNvSpPr>
          <p:nvPr/>
        </p:nvSpPr>
        <p:spPr>
          <a:xfrm>
            <a:off x="5143500" y="6667500"/>
            <a:ext cx="1905000" cy="15716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อนุมัติบิล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Admin อนุมัติ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สถานะ Unpaid</a:t>
            </a:r>
          </a:p>
        </p:txBody>
      </p:sp>
      <p:sp>
        <p:nvSpPr>
          <p:cNvPr id="21" name="cash">
            <a:extLst>
              <a:ext uri="{FF2B5EF4-FFF2-40B4-BE49-F238E27FC236}">
                <a16:creationId xmlns:a16="http://schemas.microsoft.com/office/drawing/2014/main" id="{DBCE9BBE-37FD-4DAA-93E6-71F5581A3D92}"/>
              </a:ext>
            </a:extLst>
          </p:cNvPr>
          <p:cNvSpPr>
            <a:spLocks noGrp="1"/>
          </p:cNvSpPr>
          <p:nvPr/>
        </p:nvSpPr>
        <p:spPr>
          <a:xfrm>
            <a:off x="7429500" y="6667500"/>
            <a:ext cx="1905000" cy="15716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รับเงินสด</a:t>
            </a:r>
          </a:p>
          <a:p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Admin รับเต็มยอด</a:t>
            </a:r>
          </a:p>
          <a:p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บิลเป็น Paid</a:t>
            </a:r>
          </a:p>
        </p:txBody>
      </p:sp>
      <p:sp>
        <p:nvSpPr>
          <p:cNvPr id="22" name="receipt">
            <a:extLst>
              <a:ext uri="{FF2B5EF4-FFF2-40B4-BE49-F238E27FC236}">
                <a16:creationId xmlns:a16="http://schemas.microsoft.com/office/drawing/2014/main" id="{EB628053-DBE9-416B-A817-85286125D2BA}"/>
              </a:ext>
            </a:extLst>
          </p:cNvPr>
          <p:cNvSpPr>
            <a:spLocks noGrp="1"/>
          </p:cNvSpPr>
          <p:nvPr/>
        </p:nvSpPr>
        <p:spPr>
          <a:xfrm>
            <a:off x="9715500" y="6667500"/>
            <a:ext cx="1905000" cy="1571625"/>
          </a:xfrm>
          <a:prstGeom prst="rect">
            <a:avLst/>
          </a:prstGeom>
          <a:solidFill>
            <a:srgbClr val="FFFFFF"/>
          </a:solidFill>
          <a:ln w="19050">
            <a:solidFill>
              <a:srgbClr val="252525"/>
            </a:solidFill>
            <a:prstDash val="solid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แสดง / พิมพ์</a:t>
            </a:r>
          </a:p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ใบเสร็จ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สร้างอัตโนมัติ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เมื่อยืนยันรับเงิน</a:t>
            </a:r>
          </a:p>
        </p:txBody>
      </p:sp>
      <p:sp>
        <p:nvSpPr>
          <p:cNvPr id="24" name="work-label">
            <a:extLst>
              <a:ext uri="{FF2B5EF4-FFF2-40B4-BE49-F238E27FC236}">
                <a16:creationId xmlns:a16="http://schemas.microsoft.com/office/drawing/2014/main" id="{FD5F70AD-3553-4BC7-B6D9-CC3E3BA89730}"/>
              </a:ext>
            </a:extLst>
          </p:cNvPr>
          <p:cNvSpPr>
            <a:spLocks noGrp="1"/>
          </p:cNvSpPr>
          <p:nvPr/>
        </p:nvSpPr>
        <p:spPr>
          <a:xfrm>
            <a:off x="3333750" y="4048125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defRPr sz="1875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ใช้งานตามสิทธิ์</a:t>
            </a:r>
          </a:p>
        </p:txBody>
      </p:sp>
      <p:sp>
        <p:nvSpPr>
          <p:cNvPr id="32" name="binding-heading">
            <a:extLst>
              <a:ext uri="{FF2B5EF4-FFF2-40B4-BE49-F238E27FC236}">
                <a16:creationId xmlns:a16="http://schemas.microsoft.com/office/drawing/2014/main" id="{80ADBC1C-AF32-4EFF-B12B-9CA5D053A3EE}"/>
              </a:ext>
            </a:extLst>
          </p:cNvPr>
          <p:cNvSpPr>
            <a:spLocks noGrp="1"/>
          </p:cNvSpPr>
          <p:nvPr/>
        </p:nvSpPr>
        <p:spPr>
          <a:xfrm>
            <a:off x="12573000" y="2247900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2025" b="1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lang="th-TH" sz="2025" b="1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กำลังพัฒนาต่อ</a:t>
            </a:r>
            <a:endParaRPr sz="2025" b="1" dirty="0">
              <a:solidFill>
                <a:srgbClr val="252525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6" name="code-label">
            <a:extLst>
              <a:ext uri="{FF2B5EF4-FFF2-40B4-BE49-F238E27FC236}">
                <a16:creationId xmlns:a16="http://schemas.microsoft.com/office/drawing/2014/main" id="{923C0BDE-E184-47B4-BA6C-F989442C1E84}"/>
              </a:ext>
            </a:extLst>
          </p:cNvPr>
          <p:cNvSpPr>
            <a:spLocks noGrp="1"/>
          </p:cNvSpPr>
          <p:nvPr/>
        </p:nvSpPr>
        <p:spPr>
          <a:xfrm>
            <a:off x="14668500" y="3105150"/>
            <a:ext cx="762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defRPr sz="165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65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ส่งรหัส</a:t>
            </a:r>
          </a:p>
        </p:txBody>
      </p:sp>
      <p:sp>
        <p:nvSpPr>
          <p:cNvPr id="37" name="code-source">
            <a:extLst>
              <a:ext uri="{FF2B5EF4-FFF2-40B4-BE49-F238E27FC236}">
                <a16:creationId xmlns:a16="http://schemas.microsoft.com/office/drawing/2014/main" id="{67CB9011-D734-4B4F-B345-79DA4878B838}"/>
              </a:ext>
            </a:extLst>
          </p:cNvPr>
          <p:cNvSpPr>
            <a:spLocks noGrp="1"/>
          </p:cNvSpPr>
          <p:nvPr/>
        </p:nvSpPr>
        <p:spPr>
          <a:xfrm>
            <a:off x="12573000" y="4229100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875" b="0">
                <a:solidFill>
                  <a:srgbClr val="666666"/>
                </a:solidFill>
                <a:latin typeface="Thonburi"/>
                <a:ea typeface="Thonburi"/>
                <a:cs typeface="Thonburi"/>
              </a:defRPr>
            </a:pPr>
            <a:r>
              <a:rPr sz="1875" b="0" dirty="0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Admin </a:t>
            </a:r>
            <a:r>
              <a:rPr sz="1875" b="0" dirty="0" err="1">
                <a:solidFill>
                  <a:srgbClr val="666666"/>
                </a:solidFill>
                <a:latin typeface="Thonburi"/>
                <a:ea typeface="Thonburi"/>
                <a:cs typeface="Thonburi"/>
              </a:rPr>
              <a:t>เป็นผู้สร้างรหัสผูกบัญชี</a:t>
            </a:r>
            <a:endParaRPr sz="1875" b="0" dirty="0">
              <a:solidFill>
                <a:srgbClr val="66666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40" name="api">
            <a:extLst>
              <a:ext uri="{FF2B5EF4-FFF2-40B4-BE49-F238E27FC236}">
                <a16:creationId xmlns:a16="http://schemas.microsoft.com/office/drawing/2014/main" id="{904CC383-1A27-4FAF-B852-6752919F5354}"/>
              </a:ext>
            </a:extLst>
          </p:cNvPr>
          <p:cNvSpPr>
            <a:spLocks noGrp="1"/>
          </p:cNvSpPr>
          <p:nvPr/>
        </p:nvSpPr>
        <p:spPr>
          <a:xfrm>
            <a:off x="13906500" y="7096125"/>
            <a:ext cx="32385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777"/>
            </a:solidFill>
            <a:prstDash val="dash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LINE Messaging API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เชื่อมการส่งข้อความจริง</a:t>
            </a:r>
          </a:p>
        </p:txBody>
      </p:sp>
      <p:sp>
        <p:nvSpPr>
          <p:cNvPr id="41" name="resident-output">
            <a:extLst>
              <a:ext uri="{FF2B5EF4-FFF2-40B4-BE49-F238E27FC236}">
                <a16:creationId xmlns:a16="http://schemas.microsoft.com/office/drawing/2014/main" id="{8D7EBAE8-4209-4606-A42E-2CE73CEF80B4}"/>
              </a:ext>
            </a:extLst>
          </p:cNvPr>
          <p:cNvSpPr>
            <a:spLocks noGrp="1"/>
          </p:cNvSpPr>
          <p:nvPr/>
        </p:nvSpPr>
        <p:spPr>
          <a:xfrm>
            <a:off x="13906500" y="8810625"/>
            <a:ext cx="3238500" cy="952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77777"/>
            </a:solidFill>
            <a:prstDash val="dash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ผู้พักอาศัย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รับข้อความผ่าน LINE OA</a:t>
            </a:r>
          </a:p>
        </p:txBody>
      </p:sp>
      <p:sp>
        <p:nvSpPr>
          <p:cNvPr id="43" name="phase2-data-link">
            <a:extLst>
              <a:ext uri="{FF2B5EF4-FFF2-40B4-BE49-F238E27FC236}">
                <a16:creationId xmlns:a16="http://schemas.microsoft.com/office/drawing/2014/main" id="{70EF563C-AE1B-4AA8-82F0-9A06761E1D30}"/>
              </a:ext>
            </a:extLst>
          </p:cNvPr>
          <p:cNvSpPr>
            <a:spLocks noGrp="1"/>
          </p:cNvSpPr>
          <p:nvPr/>
        </p:nvSpPr>
        <p:spPr>
          <a:xfrm>
            <a:off x="7548562" y="608058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defRPr sz="180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0" dirty="0" err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บิล</a:t>
            </a:r>
            <a:r>
              <a:rPr sz="1800" b="0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 Unpaid </a:t>
            </a:r>
            <a:r>
              <a:rPr sz="1800" b="0" dirty="0" err="1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และวันครบกำหนด</a:t>
            </a:r>
            <a:endParaRPr sz="1800" b="0" dirty="0">
              <a:solidFill>
                <a:srgbClr val="252525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45" name="api-label">
            <a:extLst>
              <a:ext uri="{FF2B5EF4-FFF2-40B4-BE49-F238E27FC236}">
                <a16:creationId xmlns:a16="http://schemas.microsoft.com/office/drawing/2014/main" id="{66B6C952-EB4A-4CDE-B3A1-52A2EB21D30F}"/>
              </a:ext>
            </a:extLst>
          </p:cNvPr>
          <p:cNvSpPr>
            <a:spLocks noGrp="1"/>
          </p:cNvSpPr>
          <p:nvPr/>
        </p:nvSpPr>
        <p:spPr>
          <a:xfrm>
            <a:off x="15697200" y="6648450"/>
            <a:ext cx="2019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800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เชื่อม API</a:t>
            </a:r>
          </a:p>
        </p:txBody>
      </p:sp>
      <p:sp>
        <p:nvSpPr>
          <p:cNvPr id="47" name="message-label">
            <a:extLst>
              <a:ext uri="{FF2B5EF4-FFF2-40B4-BE49-F238E27FC236}">
                <a16:creationId xmlns:a16="http://schemas.microsoft.com/office/drawing/2014/main" id="{59CC8BE9-5F02-46A9-8643-2CD0BC3B5488}"/>
              </a:ext>
            </a:extLst>
          </p:cNvPr>
          <p:cNvSpPr>
            <a:spLocks noGrp="1"/>
          </p:cNvSpPr>
          <p:nvPr/>
        </p:nvSpPr>
        <p:spPr>
          <a:xfrm>
            <a:off x="15697200" y="8210550"/>
            <a:ext cx="2019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l">
              <a:defRPr sz="1725" b="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ส่งผ่าน LINE OA</a:t>
            </a:r>
          </a:p>
        </p:txBody>
      </p:sp>
      <p:sp>
        <p:nvSpPr>
          <p:cNvPr id="51" name="api">
            <a:extLst>
              <a:ext uri="{FF2B5EF4-FFF2-40B4-BE49-F238E27FC236}">
                <a16:creationId xmlns:a16="http://schemas.microsoft.com/office/drawing/2014/main" id="{286B3ECA-6C0B-04AC-D845-2EE8D49FB060}"/>
              </a:ext>
            </a:extLst>
          </p:cNvPr>
          <p:cNvSpPr>
            <a:spLocks noGrp="1"/>
          </p:cNvSpPr>
          <p:nvPr/>
        </p:nvSpPr>
        <p:spPr>
          <a:xfrm>
            <a:off x="13918532" y="5678154"/>
            <a:ext cx="32385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777"/>
            </a:solidFill>
            <a:prstDash val="dash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lang="th-TH" b="1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จัดคิวแจ้งเตือน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lang="th-TH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เมื่อเรียกงานตรวจรายวัน</a:t>
            </a:r>
          </a:p>
        </p:txBody>
      </p:sp>
      <p:sp>
        <p:nvSpPr>
          <p:cNvPr id="52" name="api">
            <a:extLst>
              <a:ext uri="{FF2B5EF4-FFF2-40B4-BE49-F238E27FC236}">
                <a16:creationId xmlns:a16="http://schemas.microsoft.com/office/drawing/2014/main" id="{595898EF-90CE-4F38-F4BB-28EE4346EADF}"/>
              </a:ext>
            </a:extLst>
          </p:cNvPr>
          <p:cNvSpPr>
            <a:spLocks noGrp="1"/>
          </p:cNvSpPr>
          <p:nvPr/>
        </p:nvSpPr>
        <p:spPr>
          <a:xfrm>
            <a:off x="12218068" y="2974809"/>
            <a:ext cx="2450432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777"/>
            </a:solidFill>
            <a:prstDash val="dash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lang="th-TH" b="1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ผู้พักอาศัย</a:t>
            </a:r>
          </a:p>
          <a:p>
            <a:pPr algn="ctr">
              <a:spcAft>
                <a:spcPts val="120"/>
              </a:spcAft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lang="th-TH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ส่งรหัสผ่าน </a:t>
            </a:r>
            <a:r>
              <a:rPr lang="en-US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LINE</a:t>
            </a:r>
          </a:p>
        </p:txBody>
      </p:sp>
      <p:sp>
        <p:nvSpPr>
          <p:cNvPr id="53" name="api">
            <a:extLst>
              <a:ext uri="{FF2B5EF4-FFF2-40B4-BE49-F238E27FC236}">
                <a16:creationId xmlns:a16="http://schemas.microsoft.com/office/drawing/2014/main" id="{5821988E-355F-2848-B6B6-44909A83011A}"/>
              </a:ext>
            </a:extLst>
          </p:cNvPr>
          <p:cNvSpPr>
            <a:spLocks noGrp="1"/>
          </p:cNvSpPr>
          <p:nvPr/>
        </p:nvSpPr>
        <p:spPr>
          <a:xfrm>
            <a:off x="15430500" y="2952750"/>
            <a:ext cx="2450432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777777"/>
            </a:solidFill>
            <a:prstDash val="dash"/>
          </a:ln>
        </p:spPr>
        <p:txBody>
          <a:bodyPr wrap="none" lIns="95250" tIns="95250" rIns="95250" bIns="95250" anchor="ctr">
            <a:noAutofit/>
          </a:bodyPr>
          <a:lstStyle>
            <a:defPPr algn="ctr">
              <a:defRPr sz="1800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defPPr>
          </a:lstStyle>
          <a:p>
            <a:pPr algn="ctr">
              <a:spcAft>
                <a:spcPts val="25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lang="en-US" b="1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LINE Webhook</a:t>
            </a:r>
          </a:p>
          <a:p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lang="th-TH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ตรวจรหัสและลายเซ็น</a:t>
            </a:r>
          </a:p>
          <a:p>
            <a:pPr algn="ctr">
              <a:spcAft>
                <a:spcPts val="120"/>
              </a:spcAft>
              <a:defRPr sz="1725">
                <a:solidFill>
                  <a:srgbClr val="252525"/>
                </a:solidFill>
                <a:latin typeface="Thonburi"/>
                <a:ea typeface="Thonburi"/>
                <a:cs typeface="Thonburi"/>
              </a:defRPr>
            </a:pPr>
            <a:r>
              <a:rPr lang="th-TH" dirty="0">
                <a:solidFill>
                  <a:srgbClr val="252525"/>
                </a:solidFill>
                <a:latin typeface="Thonburi"/>
                <a:ea typeface="Thonburi"/>
                <a:cs typeface="Thonburi"/>
              </a:rPr>
              <a:t>ผูกบัญชีผู้เช่า</a:t>
            </a:r>
          </a:p>
        </p:txBody>
      </p:sp>
    </p:spTree>
    <p:extLst>
      <p:ext uri="{BB962C8B-B14F-4D97-AF65-F5344CB8AC3E}">
        <p14:creationId xmlns:p14="http://schemas.microsoft.com/office/powerpoint/2010/main" val="9955136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Microsoft Macintosh PowerPoint</Application>
  <DocSecurity>0</DocSecurity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Thonburi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2510711302005 Winothai Thatthong</cp:lastModifiedBy>
  <cp:revision>1</cp:revision>
  <dcterms:created xsi:type="dcterms:W3CDTF">2026-10-16T17:44:48Z</dcterms:created>
  <dcterms:modified xsi:type="dcterms:W3CDTF">2026-10-16T17:56:48Z</dcterms:modified>
</cp:coreProperties>
</file>