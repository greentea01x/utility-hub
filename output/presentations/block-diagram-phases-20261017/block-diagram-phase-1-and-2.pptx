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9ba7131ac047f8" /><Relationship Type="http://schemas.openxmlformats.org/officeDocument/2006/relationships/extended-properties" Target="/docProps/app.xml" Id="R7626169e8db34203" /><Relationship Type="http://schemas.openxmlformats.org/officeDocument/2006/relationships/officeDocument" Target="/ppt/presentation.xml" Id="Rd193064663474d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7abd2727954342"/>
  </p:sldMasterIdLst>
  <p:notesMasterIdLst>
    <p:notesMasterId xmlns:r="http://schemas.openxmlformats.org/officeDocument/2006/relationships" r:id="R97560d38c2504b3d"/>
  </p:notesMasterIdLst>
  <p:sldIdLst>
    <p:sldId xmlns:r="http://schemas.openxmlformats.org/officeDocument/2006/relationships" id="256" r:id="R0c8433b6cfec4484"/>
    <p:sldId xmlns:r="http://schemas.openxmlformats.org/officeDocument/2006/relationships" id="257" r:id="R86545f2be22c43e7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465f2d44684d3f" /><Relationship Type="http://schemas.openxmlformats.org/officeDocument/2006/relationships/slideMaster" Target="/ppt/slideMasters/slideMaster1.xml" Id="R4e7abd2727954342" /><Relationship Type="http://schemas.openxmlformats.org/officeDocument/2006/relationships/notesMaster" Target="/ppt/notesMasters/notesMaster1.xml" Id="R97560d38c2504b3d" /><Relationship Type="http://schemas.openxmlformats.org/officeDocument/2006/relationships/presProps" Target="/ppt/presProps.xml" Id="R8545a3e06c544272" /><Relationship Type="http://schemas.openxmlformats.org/officeDocument/2006/relationships/tableStyles" Target="/ppt/tableStyles.xml" Id="Re0528cd369c942ae" /><Relationship Type="http://schemas.openxmlformats.org/officeDocument/2006/relationships/slide" Target="/ppt/slides/slide1.xml" Id="R0c8433b6cfec4484" /><Relationship Type="http://schemas.openxmlformats.org/officeDocument/2006/relationships/slide" Target="/ppt/slides/slide2.xml" Id="R86545f2be22c43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78a3e77ec442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b7515e0a214f3a" /><Relationship Type="http://schemas.openxmlformats.org/officeDocument/2006/relationships/notesMaster" Target="/ppt/notesMasters/notesMaster1.xml" Id="Rd17f1f970b9e4b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17690b087c43c4" /><Relationship Type="http://schemas.openxmlformats.org/officeDocument/2006/relationships/notesMaster" Target="/ppt/notesMasters/notesMaster1.xml" Id="Recd59697ea794c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Phase 1 ครอบคลุมงานสำนักงานของเว็บไซต์ ตั้งแต่ผู้ใช้งานเข้าสู่ระบบ ตรวจสิทธิ์ จดมิเตอร์ และสั่งสร้างบิล ไปจนถึงรับเงินสดและพิมพ์ใบเสร็จ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การจดมิเตอร์ต้องระบุชื่อช่างทุกครั้ง แต่ไม่ได้สร้างบิลให้อัตโนมัติ Admin ต้องสั่งสร้างบิล Draft หลังมีเลขมิเตอร์ครบ และอนุมัติเป็น Unpaid ก่อนรับเงินได้ การยืนยันเงินสดเต็มยอดจะสร้าง payment และ receipt พร้อมเปลี่ยนบิลเป็น Paid ภายใน transaction เดียว หน้าใบเสร็จเป็นการแสดงหรือพิมพ์เอกสารนั้น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ฐานข้อมูล PostgreSQL เป็นข้อมูลส่วนกลางของทุกโมดูล ลูกศรสองหัวหมายถึงอ่านและบันทึกข้อมูล ส่วนภาพรวมและรายงานอ่านข้อมูลสรุปจากฐานข้อมูล เจ้าหน้าที่เข้าถึงภาพรวมเฉพาะห้องและมิเตอร์ ไม่เห็นยอดเงินหรืออัตราค่าบริการ การส่งออก CSV จำกัด Admin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แหล่งโค้ดในโปรเจกต์:</a:t>
            </a:r>
          </a:p>
          <a:p xmlns:a="http://schemas.openxmlformats.org/drawingml/2006/main">
            <a:r>
              <a:t>/Users/initia-army/Documents/juristic-platform/app.js</a:t>
            </a:r>
          </a:p>
          <a:p xmlns:a="http://schemas.openxmlformats.org/drawingml/2006/main">
            <a:r>
              <a:t>/Users/initia-army/Documents/juristic-platform/lib/permissions.js</a:t>
            </a:r>
          </a:p>
          <a:p xmlns:a="http://schemas.openxmlformats.org/drawingml/2006/main">
            <a:r>
              <a:t>/Users/initia-army/Documents/juristic-platform/routes/auth.js</a:t>
            </a:r>
          </a:p>
          <a:p xmlns:a="http://schemas.openxmlformats.org/drawingml/2006/main">
            <a:r>
              <a:t>/Users/initia-army/Documents/juristic-platform/services/readings.js</a:t>
            </a:r>
          </a:p>
          <a:p xmlns:a="http://schemas.openxmlformats.org/drawingml/2006/main">
            <a:r>
              <a:t>/Users/initia-army/Documents/juristic-platform/services/billing.js</a:t>
            </a:r>
          </a:p>
          <a:p xmlns:a="http://schemas.openxmlformats.org/drawingml/2006/main">
            <a:r>
              <a:t>/Users/initia-army/Documents/juristic-platform/services/payment.js</a:t>
            </a:r>
          </a:p>
          <a:p xmlns:a="http://schemas.openxmlformats.org/drawingml/2006/main">
            <a:r>
              <a:t>/Users/initia-army/Documents/juristic-platform/routes/payments.js</a:t>
            </a:r>
          </a:p>
          <a:p xmlns:a="http://schemas.openxmlformats.org/drawingml/2006/main">
            <a:r>
              <a:t>/Users/initia-army/Documents/juristic-platform/routes/reports.js</a:t>
            </a:r>
          </a:p>
          <a:p xmlns:a="http://schemas.openxmlformats.org/drawingml/2006/main">
            <a:r>
              <a:t>/Users/initia-army/Documents/juristic-platform/README.md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งาน LINE ทั้งหมดจัดเป็น Phase 2 ตามขอบเขตการนำเสนอ แม้บางส่วนมีโค้ดรองรับอยู่แล้ว จึงแยกสถานะด้วยเส้นทึบและเส้นประ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ส่วนที่มีโค้ดแล้ว: Admin สร้างรหัสผูกบัญชี ผู้พักอาศัยส่งรหัสผ่าน LINE Webhook ตรวจลายเซ็นก่อนใช้รหัสและบันทึก LINE User ID ในข้อมูลผู้เช่า มี audit ของการผูกบัญชี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การเตือนชำระ: งานตรวจรายวันเมื่อถูกเรียกจะใช้บิล Unpaid และวันครบกำหนดจัดคิวเตือนก่อนครบกำหนด 2 วัน และเกินกำหนดวันที่ 1, 8, 15 ไม่มีหลักฐานในโค้ดที่ตรวจว่ามี scheduler ภายนอกทำงานอยู่แล้ว จึงไม่ได้อ้างว่ามีการส่งอัตโนมัติจริง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ส่วนส่งจริงยังต้องพัฒนา: เชื่อม LINE Messaging API เพื่อส่งบิล แจ้งเตือน และประกาศ พร้อมตรวจผลจาก API ปัจจุบัน endpoint notification drain เปลี่ยนสถานะในฐานข้อมูล แต่ไม่ได้เรียก API ส่ง LINE ประกาศบันทึกได้แล้วโดยยังไม่กระจายข้อความ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เมนูผู้พักอาศัยเป็นต้นแบบข้อมูลสมมุติ ไม่ใช่บริการที่เชื่อมฐานข้อมูลจริง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แหล่งโค้ดในโปรเจกต์:</a:t>
            </a:r>
          </a:p>
          <a:p xmlns:a="http://schemas.openxmlformats.org/drawingml/2006/main">
            <a:r>
              <a:t>/Users/initia-army/Documents/juristic-platform/routes/tenants.js</a:t>
            </a:r>
          </a:p>
          <a:p xmlns:a="http://schemas.openxmlformats.org/drawingml/2006/main">
            <a:r>
              <a:t>/Users/initia-army/Documents/juristic-platform/routes/line.js</a:t>
            </a:r>
          </a:p>
          <a:p xmlns:a="http://schemas.openxmlformats.org/drawingml/2006/main">
            <a:r>
              <a:t>/Users/initia-army/Documents/juristic-platform/services/linking.js</a:t>
            </a:r>
          </a:p>
          <a:p xmlns:a="http://schemas.openxmlformats.org/drawingml/2006/main">
            <a:r>
              <a:t>/Users/initia-army/Documents/juristic-platform/services/jobs.js</a:t>
            </a:r>
          </a:p>
          <a:p xmlns:a="http://schemas.openxmlformats.org/drawingml/2006/main">
            <a:r>
              <a:t>/Users/initia-army/Documents/juristic-platform/routes/internal.js</a:t>
            </a:r>
          </a:p>
          <a:p xmlns:a="http://schemas.openxmlformats.org/drawingml/2006/main">
            <a:r>
              <a:t>/Users/initia-army/Documents/juristic-platform/routes/notifications.js</a:t>
            </a:r>
          </a:p>
          <a:p xmlns:a="http://schemas.openxmlformats.org/drawingml/2006/main">
            <a:r>
              <a:t>/Users/initia-army/Documents/juristic-platform/services/announcements.js</a:t>
            </a:r>
          </a:p>
          <a:p xmlns:a="http://schemas.openxmlformats.org/drawingml/2006/main">
            <a:r>
              <a:t>/Users/initia-army/Documents/juristic-platform/README.md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fc3e64366b46d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1ee26e4e58427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ef3117280a4d3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5508485648461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5a1608d28d4a2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4a62fb010947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4C0F173-BF63-4E31-B699-E0FABDFE4E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C353C64-EAAD-4784-9C9A-322DD887CD5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E76C9A7-7FA8-4295-BFA9-EA602DFA44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C140C48-DEDB-4839-99F4-139668969A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9BDD7AD-8DC6-4D44-B021-CFCAF70601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195712-311C-49C7-8BF5-F67FA17C88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920794A-8C14-44BB-9964-4C65DB4AA6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1EA24BA-3E5E-4570-8996-E656697351E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DD83357-DE06-4774-B7F0-68CCDFAE5A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621571F-EF2F-48A7-97B1-6EBDFF2E9C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74b253fbd94c0f" /><Relationship Type="http://schemas.openxmlformats.org/officeDocument/2006/relationships/slideLayout" Target="/ppt/slideLayouts/slideLayout1.xml" Id="R5957e98ee3654622" /><Relationship Type="http://schemas.openxmlformats.org/officeDocument/2006/relationships/slideLayout" Target="/ppt/slideLayouts/slideLayout2.xml" Id="Rb11c6ea8865c470d" /><Relationship Type="http://schemas.openxmlformats.org/officeDocument/2006/relationships/slideLayout" Target="/ppt/slideLayouts/slideLayout3.xml" Id="R7dc96c4e737340f4" /><Relationship Type="http://schemas.openxmlformats.org/officeDocument/2006/relationships/slideLayout" Target="/ppt/slideLayouts/slideLayout4.xml" Id="R9793aec07e894f2d" /><Relationship Type="http://schemas.openxmlformats.org/officeDocument/2006/relationships/slideLayout" Target="/ppt/slideLayouts/slideLayout5.xml" Id="Rdeb8e6f9b6614e1b" /><Relationship Type="http://schemas.openxmlformats.org/officeDocument/2006/relationships/slideLayout" Target="/ppt/slideLayouts/slideLayout6.xml" Id="R9ebca74fa4ba44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57e98ee3654622"/>
    <p:sldLayoutId xmlns:r="http://schemas.openxmlformats.org/officeDocument/2006/relationships" id="2147483650" r:id="Rb11c6ea8865c470d"/>
    <p:sldLayoutId xmlns:r="http://schemas.openxmlformats.org/officeDocument/2006/relationships" id="2147483651" r:id="R7dc96c4e737340f4"/>
    <p:sldLayoutId xmlns:r="http://schemas.openxmlformats.org/officeDocument/2006/relationships" id="2147483652" r:id="R9793aec07e894f2d"/>
    <p:sldLayoutId xmlns:r="http://schemas.openxmlformats.org/officeDocument/2006/relationships" id="2147483653" r:id="Rdeb8e6f9b6614e1b"/>
    <p:sldLayoutId xmlns:r="http://schemas.openxmlformats.org/officeDocument/2006/relationships" id="2147483654" r:id="R9ebca74fa4ba44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e28f94376e447f" /><Relationship Type="http://schemas.openxmlformats.org/officeDocument/2006/relationships/notesSlide" Target="/ppt/notesSlides/notesSlide1.xml" Id="R677f0be1275145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77cb7e9cac4480" /><Relationship Type="http://schemas.openxmlformats.org/officeDocument/2006/relationships/notesSlide" Target="/ppt/notesSlides/notesSlide2.xml" Id="R7bbb56580b63428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50B319-EC83-47D8-9691-F83FD80DDA57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14097000" y="67627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22222"/>
            </a:solidFill>
            <a:prstDash val="solid"/>
            <a:tailEnd type="triangle" w="med" len="med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52AA0C-2515-4016-8673-F6B2A3FC0704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10572750" y="67627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22222"/>
            </a:solidFill>
            <a:prstDash val="solid"/>
            <a:tailEnd type="triangle" w="med" len="me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749690-6F18-451E-BD37-64246BBA5003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7048500" y="67627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22222"/>
            </a:solidFill>
            <a:prstDash val="solid"/>
            <a:tailEnd type="triangle" w="med" len="me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A9F102-FC2E-4933-8207-1C41B2AA2C80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3524250" y="67627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22222"/>
            </a:solidFill>
            <a:prstDash val="solid"/>
            <a:tailEnd type="triangle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0F3B60-DE64-4071-A789-F2EF3D832699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 flipH="1">
            <a:off x="2095500" y="3619500"/>
            <a:ext cx="8810625" cy="2333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222222"/>
            </a:solidFill>
            <a:prstDash val="solid"/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FC3B48-E6A6-4D85-83D6-9B1D5F972D99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15811500" y="3876675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22222"/>
            </a:solidFill>
            <a:prstDash val="solid"/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58AFED-8E22-4F46-8D9F-381EBDF41146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2573000" y="300990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22222"/>
            </a:solidFill>
            <a:prstDash val="solid"/>
            <a:headEnd type="triangle" w="med" len="med"/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2774AE-5681-4493-99DA-642995C35CBB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286750" y="300990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22222"/>
            </a:solidFill>
            <a:prstDash val="solid"/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1934CC-08E7-41F2-83F8-9F18F5D207F8}"/>
              </a:ext>
            </a:extLst>
          </p:cNvPr>
          <p:cNvCxnSpPr>
            <a:stCxn xmlns:a="http://schemas.openxmlformats.org/drawingml/2006/main" id="5" idx="6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000500" y="300990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22222"/>
            </a:solidFill>
            <a:prstDash val="solid"/>
            <a:tailEnd type="triangle" w="med" len="med"/>
          </a:ln>
        </p:spPr>
      </p:cxnSp>
      <p:sp>
        <p:nvSpPr>
          <p:cNvPr id="3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09368A-9621-41A0-83C8-056663D2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6954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125" b="1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pPr>
            <a:r>
              <a:rPr sz="4125" b="1">
                <a:solidFill>
                  <a:srgbClr val="222222"/>
                </a:solidFill>
                <a:latin typeface="Thonburi"/>
                <a:ea typeface="Thonburi"/>
                <a:cs typeface="Thonburi"/>
              </a:rPr>
              <a:t>Phase 1  ระบบเว็บไซต์หลัก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DF66EE7-8DC2-4CF3-90CB-93C27613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66825"/>
            <a:ext cx="1695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666666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666666"/>
                </a:solidFill>
                <a:latin typeface="Thonburi"/>
                <a:ea typeface="Thonburi"/>
                <a:cs typeface="Thonburi"/>
              </a:defRPr>
            </a:pPr>
            <a:r>
              <a:rPr sz="2250" b="0">
                <a:solidFill>
                  <a:srgbClr val="666666"/>
                </a:solidFill>
                <a:latin typeface="Thonburi"/>
                <a:ea typeface="Thonburi"/>
                <a:cs typeface="Thonburi"/>
              </a:rPr>
              <a:t>จดมิเตอร์ ออกบิล รับเงินสด และใบเสร็จ</a:t>
            </a:r>
          </a:p>
        </p:txBody>
      </p:sp>
      <p:sp>
        <p:nvSpPr>
          <p:cNvPr id="3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F434ADE1-BC48-45E5-873E-7C2293BB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1695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6C6C6"/>
            </a:solidFill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2151508-DF60-4B55-A452-3BB13476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686925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800" b="0">
                <a:solidFill>
                  <a:srgbClr val="666666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r">
              <a:defRPr sz="1800" b="0">
                <a:solidFill>
                  <a:srgbClr val="666666"/>
                </a:solidFill>
                <a:latin typeface="Thonburi"/>
                <a:ea typeface="Thonburi"/>
                <a:cs typeface="Thonburi"/>
              </a:defRPr>
            </a:pPr>
            <a:r>
              <a:rPr sz="1800" b="0">
                <a:solidFill>
                  <a:srgbClr val="666666"/>
                </a:solidFill>
                <a:latin typeface="Thonburi"/>
                <a:ea typeface="Thonburi"/>
                <a:cs typeface="Thonburi"/>
              </a:rPr>
              <a:t>01</a:t>
            </a:r>
          </a:p>
        </p:txBody>
      </p:sp>
      <p:sp>
        <p:nvSpPr>
          <p:cNvPr id="5" name="p1-operator">
            <a:extLst xmlns:a="http://schemas.openxmlformats.org/drawingml/2006/main">
              <a:ext uri="{FF2B5EF4-FFF2-40B4-BE49-F238E27FC236}">
                <a16:creationId xmlns:a16="http://schemas.microsoft.com/office/drawing/2014/main" id="{025E25B4-1C5E-488F-840C-9D07E5104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3333750" cy="121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3636"/>
          </a:solidFill>
          <a:ln xmlns:a="http://schemas.openxmlformats.org/drawingml/2006/main" w="19050">
            <a:solidFill>
              <a:srgbClr val="222222"/>
            </a:solidFill>
            <a:prstDash val="solid"/>
          </a:ln>
        </p:spPr>
        <p:txBody>
          <a:bodyPr xmlns:a="http://schemas.openxmlformats.org/drawingml/2006/main" wrap="none" lIns="133350" tIns="114300" rIns="133350" bIns="11430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ctr">
              <a:spcAft>
                <a:spcPts val="350"/>
              </a:spcAft>
              <a:defRPr sz="2025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pPr>
            <a:r>
              <a:rPr sz="2025" b="1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ผู้ดูแลระบบ / เจ้าหน้าที่</a:t>
            </a:r>
          </a:p>
        </p:txBody>
      </p:sp>
      <p:sp>
        <p:nvSpPr>
          <p:cNvPr id="6" name="p1-auth">
            <a:extLst xmlns:a="http://schemas.openxmlformats.org/drawingml/2006/main">
              <a:ext uri="{FF2B5EF4-FFF2-40B4-BE49-F238E27FC236}">
                <a16:creationId xmlns:a16="http://schemas.microsoft.com/office/drawing/2014/main" id="{DC5D29F6-69F9-459E-8DEB-1F761FC7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00300"/>
            <a:ext cx="3333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22222"/>
            </a:solidFill>
            <a:prstDash val="solid"/>
          </a:ln>
        </p:spPr>
        <p:txBody>
          <a:bodyPr xmlns:a="http://schemas.openxmlformats.org/drawingml/2006/main" wrap="none" lIns="133350" tIns="114300" rIns="133350" bIns="11430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ctr">
              <a:spcAft>
                <a:spcPts val="350"/>
              </a:spcAft>
              <a:defRPr sz="2025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pPr>
            <a:r>
              <a:rPr sz="2025" b="1">
                <a:solidFill>
                  <a:srgbClr val="222222"/>
                </a:solidFill>
                <a:latin typeface="Thonburi"/>
                <a:ea typeface="Thonburi"/>
                <a:cs typeface="Thonburi"/>
              </a:rPr>
              <a:t>เข้าสู่ระบบ</a:t>
            </a:r>
          </a:p>
          <a:p xmlns:a="http://schemas.openxmlformats.org/drawingml/2006/main">
            <a:pPr algn="ctr">
              <a:spcAft>
                <a:spcPts val="150"/>
              </a:spcAft>
              <a:defRPr sz="2025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22222"/>
                </a:solidFill>
                <a:latin typeface="Thonburi"/>
                <a:ea typeface="Thonburi"/>
                <a:cs typeface="Thonburi"/>
              </a:rPr>
              <a:t>ตรวจตัวตนและสิทธิ์ผู้ใช้</a:t>
            </a:r>
          </a:p>
        </p:txBody>
      </p:sp>
      <p:sp>
        <p:nvSpPr>
          <p:cNvPr id="7" name="p1-app">
            <a:extLst xmlns:a="http://schemas.openxmlformats.org/drawingml/2006/main">
              <a:ext uri="{FF2B5EF4-FFF2-40B4-BE49-F238E27FC236}">
                <a16:creationId xmlns:a16="http://schemas.microsoft.com/office/drawing/2014/main" id="{60EC0040-57DA-4650-923F-89E1C686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00300"/>
            <a:ext cx="3333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19050">
            <a:solidFill>
              <a:srgbClr val="222222"/>
            </a:solidFill>
            <a:prstDash val="solid"/>
          </a:ln>
        </p:spPr>
        <p:txBody>
          <a:bodyPr xmlns:a="http://schemas.openxmlformats.org/drawingml/2006/main" wrap="none" lIns="133350" tIns="114300" rIns="133350" bIns="114300" anchor="ctr">
            <a:noAutofit/>
          </a:bodyPr>
          <a:lstStyle xmlns:a="http://schemas.openxmlformats.org/drawingml/2006/main">
            <a:defPPr algn="ctr">
              <a:defRPr sz="1950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ctr">
              <a:spcAft>
                <a:spcPts val="350"/>
              </a:spcAft>
              <a:defRPr sz="1950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pPr>
            <a:r>
              <a:rPr sz="1950" b="1">
                <a:solidFill>
                  <a:srgbClr val="222222"/>
                </a:solidFill>
                <a:latin typeface="Thonburi"/>
                <a:ea typeface="Thonburi"/>
                <a:cs typeface="Thonburi"/>
              </a:rPr>
              <a:t>Web App</a:t>
            </a:r>
          </a:p>
          <a:p xmlns:a="http://schemas.openxmlformats.org/drawingml/2006/main">
            <a:pPr algn="ctr">
              <a:spcAft>
                <a:spcPts val="150"/>
              </a:spcAft>
              <a:defRPr sz="1950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pPr>
            <a:r>
              <a:rPr sz="1950" b="0">
                <a:solidFill>
                  <a:srgbClr val="222222"/>
                </a:solidFill>
                <a:latin typeface="Thonburi"/>
                <a:ea typeface="Thonburi"/>
                <a:cs typeface="Thonburi"/>
              </a:rPr>
              <a:t>Node.js + Express + EJS</a:t>
            </a:r>
          </a:p>
        </p:txBody>
      </p:sp>
      <p:sp>
        <p:nvSpPr>
          <p:cNvPr id="8" name="p1-database">
            <a:extLst xmlns:a="http://schemas.openxmlformats.org/drawingml/2006/main">
              <a:ext uri="{FF2B5EF4-FFF2-40B4-BE49-F238E27FC236}">
                <a16:creationId xmlns:a16="http://schemas.microsoft.com/office/drawing/2014/main" id="{8D0963B5-0663-4DD1-8D6B-D5C1D2FB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2143125"/>
            <a:ext cx="36195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19050">
            <a:solidFill>
              <a:srgbClr val="222222"/>
            </a:solidFill>
            <a:prstDash val="solid"/>
          </a:ln>
        </p:spPr>
        <p:txBody>
          <a:bodyPr xmlns:a="http://schemas.openxmlformats.org/drawingml/2006/main" wrap="none" lIns="133350" tIns="114300" rIns="133350" bIns="114300" anchor="ctr">
            <a:noAutofit/>
          </a:bodyPr>
          <a:lstStyle xmlns:a="http://schemas.openxmlformats.org/drawingml/2006/main">
            <a:defPPr algn="ctr">
              <a:defRPr sz="2100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ctr">
              <a:spcAft>
                <a:spcPts val="350"/>
              </a:spcAft>
              <a:defRPr sz="2100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pPr>
            <a:r>
              <a:rPr sz="2100" b="1">
                <a:solidFill>
                  <a:srgbClr val="222222"/>
                </a:solidFill>
                <a:latin typeface="Thonburi"/>
                <a:ea typeface="Thonburi"/>
                <a:cs typeface="Thonburi"/>
              </a:rPr>
              <a:t>ฐานข้อมูล</a:t>
            </a:r>
          </a:p>
          <a:p xmlns:a="http://schemas.openxmlformats.org/drawingml/2006/main">
            <a:pPr algn="ctr">
              <a:spcAft>
                <a:spcPts val="150"/>
              </a:spcAft>
              <a:defRPr sz="2100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pPr>
            <a:r>
              <a:rPr sz="2100" b="0">
                <a:solidFill>
                  <a:srgbClr val="222222"/>
                </a:solidFill>
                <a:latin typeface="Thonburi"/>
                <a:ea typeface="Thonburi"/>
                <a:cs typeface="Thonburi"/>
              </a:rPr>
              <a:t>PostgreSQL / Supabase</a:t>
            </a:r>
          </a:p>
          <a:p xmlns:a="http://schemas.openxmlformats.org/drawingml/2006/main">
            <a:pPr algn="ctr">
              <a:spcAft>
                <a:spcPts val="150"/>
              </a:spcAft>
              <a:defRPr sz="2100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pPr>
            <a:r>
              <a:rPr sz="2100" b="0">
                <a:solidFill>
                  <a:srgbClr val="222222"/>
                </a:solidFill>
                <a:latin typeface="Thonburi"/>
                <a:ea typeface="Thonburi"/>
                <a:cs typeface="Thonburi"/>
              </a:rPr>
              <a:t>ข้อมูลของระบบทุกส่วน</a:t>
            </a:r>
          </a:p>
        </p:txBody>
      </p:sp>
      <p:sp>
        <p:nvSpPr>
          <p:cNvPr id="12" name="p1-db-link-label">
            <a:extLst xmlns:a="http://schemas.openxmlformats.org/drawingml/2006/main">
              <a:ext uri="{FF2B5EF4-FFF2-40B4-BE49-F238E27FC236}">
                <a16:creationId xmlns:a16="http://schemas.microsoft.com/office/drawing/2014/main" id="{6F1CF5BB-5565-4DCD-8466-F798394C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249555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pPr>
            <a:r>
              <a:rPr sz="1875" b="0">
                <a:solidFill>
                  <a:srgbClr val="222222"/>
                </a:solidFill>
                <a:latin typeface="Thonburi"/>
                <a:ea typeface="Thonburi"/>
                <a:cs typeface="Thonburi"/>
              </a:rPr>
              <a:t>อ่าน / บันทึก</a:t>
            </a:r>
          </a:p>
        </p:txBody>
      </p:sp>
      <p:sp>
        <p:nvSpPr>
          <p:cNvPr id="13" name="p1-report">
            <a:extLst xmlns:a="http://schemas.openxmlformats.org/drawingml/2006/main">
              <a:ext uri="{FF2B5EF4-FFF2-40B4-BE49-F238E27FC236}">
                <a16:creationId xmlns:a16="http://schemas.microsoft.com/office/drawing/2014/main" id="{492F2B04-DFBD-4208-9724-BE496499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4495800"/>
            <a:ext cx="3619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22222"/>
            </a:solidFill>
            <a:prstDash val="solid"/>
          </a:ln>
        </p:spPr>
        <p:txBody>
          <a:bodyPr xmlns:a="http://schemas.openxmlformats.org/drawingml/2006/main" wrap="none" lIns="133350" tIns="114300" rIns="133350" bIns="114300" anchor="ctr">
            <a:noAutofit/>
          </a:bodyPr>
          <a:lstStyle xmlns:a="http://schemas.openxmlformats.org/drawingml/2006/main">
            <a:defPPr algn="ctr">
              <a:defRPr sz="1950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ctr">
              <a:spcAft>
                <a:spcPts val="350"/>
              </a:spcAft>
              <a:defRPr sz="1950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pPr>
            <a:r>
              <a:rPr sz="1950" b="1">
                <a:solidFill>
                  <a:srgbClr val="222222"/>
                </a:solidFill>
                <a:latin typeface="Thonburi"/>
                <a:ea typeface="Thonburi"/>
                <a:cs typeface="Thonburi"/>
              </a:rPr>
              <a:t>ภาพรวม / รายงานค้างชำระ</a:t>
            </a:r>
          </a:p>
          <a:p xmlns:a="http://schemas.openxmlformats.org/drawingml/2006/main">
            <a:pPr algn="ctr">
              <a:spcAft>
                <a:spcPts val="150"/>
              </a:spcAft>
              <a:defRPr sz="1950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pPr>
            <a:r>
              <a:rPr sz="1950" b="0">
                <a:solidFill>
                  <a:srgbClr val="222222"/>
                </a:solidFill>
                <a:latin typeface="Thonburi"/>
                <a:ea typeface="Thonburi"/>
                <a:cs typeface="Thonburi"/>
              </a:rPr>
              <a:t>CSV สำหรับ Admin</a:t>
            </a:r>
          </a:p>
        </p:txBody>
      </p:sp>
      <p:sp>
        <p:nvSpPr>
          <p:cNvPr id="15" name="p1-report-label">
            <a:extLst xmlns:a="http://schemas.openxmlformats.org/drawingml/2006/main">
              <a:ext uri="{FF2B5EF4-FFF2-40B4-BE49-F238E27FC236}">
                <a16:creationId xmlns:a16="http://schemas.microsoft.com/office/drawing/2014/main" id="{D88EE076-8263-408A-A384-6FD2E7B5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54375" y="3952875"/>
            <a:ext cx="161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pPr>
            <a:r>
              <a:rPr sz="1800" b="0">
                <a:solidFill>
                  <a:srgbClr val="222222"/>
                </a:solidFill>
                <a:latin typeface="Thonburi"/>
                <a:ea typeface="Thonburi"/>
                <a:cs typeface="Thonburi"/>
              </a:rPr>
              <a:t>อ่านข้อมูลสรุป</a:t>
            </a:r>
          </a:p>
        </p:txBody>
      </p:sp>
      <p:sp>
        <p:nvSpPr>
          <p:cNvPr id="16" name="p1-monthly-flow-label">
            <a:extLst xmlns:a="http://schemas.openxmlformats.org/drawingml/2006/main">
              <a:ext uri="{FF2B5EF4-FFF2-40B4-BE49-F238E27FC236}">
                <a16:creationId xmlns:a16="http://schemas.microsoft.com/office/drawing/2014/main" id="{56925FD9-50BD-43D9-A4C7-87550F73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91125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pPr>
            <a:r>
              <a:rPr sz="2325" b="1">
                <a:solidFill>
                  <a:srgbClr val="222222"/>
                </a:solidFill>
                <a:latin typeface="Thonburi"/>
                <a:ea typeface="Thonburi"/>
                <a:cs typeface="Thonburi"/>
              </a:rPr>
              <a:t>ลำดับงานประจำเดือน</a:t>
            </a:r>
          </a:p>
        </p:txBody>
      </p:sp>
      <p:sp>
        <p:nvSpPr>
          <p:cNvPr id="17" name="p1-readings">
            <a:extLst xmlns:a="http://schemas.openxmlformats.org/drawingml/2006/main">
              <a:ext uri="{FF2B5EF4-FFF2-40B4-BE49-F238E27FC236}">
                <a16:creationId xmlns:a16="http://schemas.microsoft.com/office/drawing/2014/main" id="{7AADEA7A-7159-41FD-89C4-B65BFE1E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53125"/>
            <a:ext cx="2857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22222"/>
            </a:solidFill>
            <a:prstDash val="solid"/>
          </a:ln>
        </p:spPr>
        <p:txBody>
          <a:bodyPr xmlns:a="http://schemas.openxmlformats.org/drawingml/2006/main" wrap="none" lIns="133350" tIns="114300" rIns="133350" bIns="11430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ctr">
              <a:spcAft>
                <a:spcPts val="350"/>
              </a:spcAft>
              <a:defRPr sz="2025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pPr>
            <a:r>
              <a:rPr sz="2025" b="1">
                <a:solidFill>
                  <a:srgbClr val="222222"/>
                </a:solidFill>
                <a:latin typeface="Thonburi"/>
                <a:ea typeface="Thonburi"/>
                <a:cs typeface="Thonburi"/>
              </a:rPr>
              <a:t>จดมิเตอร์น้ำ / ไฟฟ้า</a:t>
            </a:r>
          </a:p>
          <a:p xmlns:a="http://schemas.openxmlformats.org/drawingml/2006/main">
            <a:pPr algn="ctr">
              <a:spcAft>
                <a:spcPts val="150"/>
              </a:spcAft>
              <a:defRPr sz="2025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22222"/>
                </a:solidFill>
                <a:latin typeface="Thonburi"/>
                <a:ea typeface="Thonburi"/>
                <a:cs typeface="Thonburi"/>
              </a:rPr>
              <a:t>ระบุชื่อช่างทุกครั้ง</a:t>
            </a:r>
          </a:p>
        </p:txBody>
      </p:sp>
      <p:sp>
        <p:nvSpPr>
          <p:cNvPr id="18" name="p1-draft">
            <a:extLst xmlns:a="http://schemas.openxmlformats.org/drawingml/2006/main">
              <a:ext uri="{FF2B5EF4-FFF2-40B4-BE49-F238E27FC236}">
                <a16:creationId xmlns:a16="http://schemas.microsoft.com/office/drawing/2014/main" id="{DEB340D8-0404-42B1-A51D-700E3E99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953125"/>
            <a:ext cx="2857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22222"/>
            </a:solidFill>
            <a:prstDash val="solid"/>
          </a:ln>
        </p:spPr>
        <p:txBody>
          <a:bodyPr xmlns:a="http://schemas.openxmlformats.org/drawingml/2006/main" wrap="none" lIns="133350" tIns="114300" rIns="133350" bIns="11430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ctr">
              <a:spcAft>
                <a:spcPts val="350"/>
              </a:spcAft>
              <a:defRPr sz="2025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pPr>
            <a:r>
              <a:rPr sz="2025" b="1">
                <a:solidFill>
                  <a:srgbClr val="222222"/>
                </a:solidFill>
                <a:latin typeface="Thonburi"/>
                <a:ea typeface="Thonburi"/>
                <a:cs typeface="Thonburi"/>
              </a:rPr>
              <a:t>สร้างบิลร่าง</a:t>
            </a:r>
          </a:p>
          <a:p xmlns:a="http://schemas.openxmlformats.org/drawingml/2006/main">
            <a:pPr algn="ctr">
              <a:spcAft>
                <a:spcPts val="150"/>
              </a:spcAft>
              <a:defRPr sz="2025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22222"/>
                </a:solidFill>
                <a:latin typeface="Thonburi"/>
                <a:ea typeface="Thonburi"/>
                <a:cs typeface="Thonburi"/>
              </a:rPr>
              <a:t>Admin สั่งสร้าง</a:t>
            </a:r>
          </a:p>
          <a:p xmlns:a="http://schemas.openxmlformats.org/drawingml/2006/main">
            <a:pPr algn="ctr">
              <a:spcAft>
                <a:spcPts val="150"/>
              </a:spcAft>
              <a:defRPr sz="2025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22222"/>
                </a:solidFill>
                <a:latin typeface="Thonburi"/>
                <a:ea typeface="Thonburi"/>
                <a:cs typeface="Thonburi"/>
              </a:rPr>
              <a:t>สถานะ Draft</a:t>
            </a:r>
          </a:p>
        </p:txBody>
      </p:sp>
      <p:sp>
        <p:nvSpPr>
          <p:cNvPr id="19" name="p1-approval">
            <a:extLst xmlns:a="http://schemas.openxmlformats.org/drawingml/2006/main">
              <a:ext uri="{FF2B5EF4-FFF2-40B4-BE49-F238E27FC236}">
                <a16:creationId xmlns:a16="http://schemas.microsoft.com/office/drawing/2014/main" id="{16E6DAC6-927D-4807-BCEC-C69BB1AA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953125"/>
            <a:ext cx="2857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22222"/>
            </a:solidFill>
            <a:prstDash val="solid"/>
          </a:ln>
        </p:spPr>
        <p:txBody>
          <a:bodyPr xmlns:a="http://schemas.openxmlformats.org/drawingml/2006/main" wrap="none" lIns="133350" tIns="114300" rIns="133350" bIns="11430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ctr">
              <a:spcAft>
                <a:spcPts val="350"/>
              </a:spcAft>
              <a:defRPr sz="2025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pPr>
            <a:r>
              <a:rPr sz="2025" b="1">
                <a:solidFill>
                  <a:srgbClr val="222222"/>
                </a:solidFill>
                <a:latin typeface="Thonburi"/>
                <a:ea typeface="Thonburi"/>
                <a:cs typeface="Thonburi"/>
              </a:rPr>
              <a:t>อนุมัติบิล</a:t>
            </a:r>
          </a:p>
          <a:p xmlns:a="http://schemas.openxmlformats.org/drawingml/2006/main">
            <a:pPr algn="ctr">
              <a:spcAft>
                <a:spcPts val="150"/>
              </a:spcAft>
              <a:defRPr sz="2025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22222"/>
                </a:solidFill>
                <a:latin typeface="Thonburi"/>
                <a:ea typeface="Thonburi"/>
                <a:cs typeface="Thonburi"/>
              </a:rPr>
              <a:t>Admin อนุมัติ</a:t>
            </a:r>
          </a:p>
          <a:p xmlns:a="http://schemas.openxmlformats.org/drawingml/2006/main">
            <a:pPr algn="ctr">
              <a:spcAft>
                <a:spcPts val="150"/>
              </a:spcAft>
              <a:defRPr sz="2025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22222"/>
                </a:solidFill>
                <a:latin typeface="Thonburi"/>
                <a:ea typeface="Thonburi"/>
                <a:cs typeface="Thonburi"/>
              </a:rPr>
              <a:t>สถานะ Unpaid</a:t>
            </a:r>
          </a:p>
        </p:txBody>
      </p:sp>
      <p:sp>
        <p:nvSpPr>
          <p:cNvPr id="20" name="p1-cash">
            <a:extLst xmlns:a="http://schemas.openxmlformats.org/drawingml/2006/main">
              <a:ext uri="{FF2B5EF4-FFF2-40B4-BE49-F238E27FC236}">
                <a16:creationId xmlns:a16="http://schemas.microsoft.com/office/drawing/2014/main" id="{FE723811-16E0-44E2-A76F-553BBF94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953125"/>
            <a:ext cx="2857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22222"/>
            </a:solidFill>
            <a:prstDash val="solid"/>
          </a:ln>
        </p:spPr>
        <p:txBody>
          <a:bodyPr xmlns:a="http://schemas.openxmlformats.org/drawingml/2006/main" wrap="none" lIns="133350" tIns="114300" rIns="133350" bIns="11430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ctr">
              <a:spcAft>
                <a:spcPts val="350"/>
              </a:spcAft>
              <a:defRPr sz="2025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pPr>
            <a:r>
              <a:rPr sz="2025" b="1">
                <a:solidFill>
                  <a:srgbClr val="222222"/>
                </a:solidFill>
                <a:latin typeface="Thonburi"/>
                <a:ea typeface="Thonburi"/>
                <a:cs typeface="Thonburi"/>
              </a:rPr>
              <a:t>รับชำระเงินสด</a:t>
            </a:r>
          </a:p>
          <a:p xmlns:a="http://schemas.openxmlformats.org/drawingml/2006/main">
            <a:pPr algn="ctr">
              <a:spcAft>
                <a:spcPts val="150"/>
              </a:spcAft>
              <a:defRPr sz="2025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22222"/>
                </a:solidFill>
                <a:latin typeface="Thonburi"/>
                <a:ea typeface="Thonburi"/>
                <a:cs typeface="Thonburi"/>
              </a:rPr>
              <a:t>Admin รับเต็มยอด</a:t>
            </a:r>
          </a:p>
          <a:p xmlns:a="http://schemas.openxmlformats.org/drawingml/2006/main">
            <a:pPr algn="ctr">
              <a:spcAft>
                <a:spcPts val="150"/>
              </a:spcAft>
              <a:defRPr sz="2025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22222"/>
                </a:solidFill>
                <a:latin typeface="Thonburi"/>
                <a:ea typeface="Thonburi"/>
                <a:cs typeface="Thonburi"/>
              </a:rPr>
              <a:t>บิลเป็น Paid</a:t>
            </a:r>
          </a:p>
        </p:txBody>
      </p:sp>
      <p:sp>
        <p:nvSpPr>
          <p:cNvPr id="21" name="p1-receipt">
            <a:extLst xmlns:a="http://schemas.openxmlformats.org/drawingml/2006/main">
              <a:ext uri="{FF2B5EF4-FFF2-40B4-BE49-F238E27FC236}">
                <a16:creationId xmlns:a16="http://schemas.microsoft.com/office/drawing/2014/main" id="{8A8BD4CE-81A7-41A4-8A28-099D9745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0" y="5953125"/>
            <a:ext cx="2857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22222"/>
            </a:solidFill>
            <a:prstDash val="solid"/>
          </a:ln>
        </p:spPr>
        <p:txBody>
          <a:bodyPr xmlns:a="http://schemas.openxmlformats.org/drawingml/2006/main" wrap="none" lIns="133350" tIns="114300" rIns="133350" bIns="11430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ctr">
              <a:spcAft>
                <a:spcPts val="350"/>
              </a:spcAft>
              <a:defRPr sz="2025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pPr>
            <a:r>
              <a:rPr sz="2025" b="1">
                <a:solidFill>
                  <a:srgbClr val="222222"/>
                </a:solidFill>
                <a:latin typeface="Thonburi"/>
                <a:ea typeface="Thonburi"/>
                <a:cs typeface="Thonburi"/>
              </a:rPr>
              <a:t>แสดง / พิมพ์ใบเสร็จ</a:t>
            </a:r>
          </a:p>
          <a:p xmlns:a="http://schemas.openxmlformats.org/drawingml/2006/main">
            <a:pPr algn="ctr">
              <a:spcAft>
                <a:spcPts val="150"/>
              </a:spcAft>
              <a:defRPr sz="2025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22222"/>
                </a:solidFill>
                <a:latin typeface="Thonburi"/>
                <a:ea typeface="Thonburi"/>
                <a:cs typeface="Thonburi"/>
              </a:rPr>
              <a:t>ระบบสร้างให้อัตโนมัติ</a:t>
            </a:r>
          </a:p>
          <a:p xmlns:a="http://schemas.openxmlformats.org/drawingml/2006/main">
            <a:pPr algn="ctr">
              <a:spcAft>
                <a:spcPts val="150"/>
              </a:spcAft>
              <a:defRPr sz="2025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22222"/>
                </a:solidFill>
                <a:latin typeface="Thonburi"/>
                <a:ea typeface="Thonburi"/>
                <a:cs typeface="Thonburi"/>
              </a:rPr>
              <a:t>เมื่อยืนยันรับเงิน</a:t>
            </a:r>
          </a:p>
        </p:txBody>
      </p:sp>
      <p:sp>
        <p:nvSpPr>
          <p:cNvPr id="23" name="p1-app-flow-label">
            <a:extLst xmlns:a="http://schemas.openxmlformats.org/drawingml/2006/main">
              <a:ext uri="{FF2B5EF4-FFF2-40B4-BE49-F238E27FC236}">
                <a16:creationId xmlns:a16="http://schemas.microsoft.com/office/drawing/2014/main" id="{B69CDF9B-06BC-4705-8FBD-C57C9107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10050"/>
            <a:ext cx="285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pPr>
            <a:r>
              <a:rPr sz="1950" b="0">
                <a:solidFill>
                  <a:srgbClr val="222222"/>
                </a:solidFill>
                <a:latin typeface="Thonburi"/>
                <a:ea typeface="Thonburi"/>
                <a:cs typeface="Thonburi"/>
              </a:rPr>
              <a:t>ใช้งานตามสิทธิ์</a:t>
            </a:r>
          </a:p>
        </p:txBody>
      </p:sp>
      <p:sp>
        <p:nvSpPr>
          <p:cNvPr id="28" name="p1-bill-rule">
            <a:extLst xmlns:a="http://schemas.openxmlformats.org/drawingml/2006/main">
              <a:ext uri="{FF2B5EF4-FFF2-40B4-BE49-F238E27FC236}">
                <a16:creationId xmlns:a16="http://schemas.microsoft.com/office/drawing/2014/main" id="{7833CB68-FAF7-4597-8248-B96BDDC1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7686675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666666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666666"/>
                </a:solidFill>
                <a:latin typeface="Thonburi"/>
                <a:ea typeface="Thonburi"/>
                <a:cs typeface="Thonburi"/>
              </a:defRPr>
            </a:pPr>
            <a:r>
              <a:rPr sz="1875" b="0">
                <a:solidFill>
                  <a:srgbClr val="666666"/>
                </a:solidFill>
                <a:latin typeface="Thonburi"/>
                <a:ea typeface="Thonburi"/>
                <a:cs typeface="Thonburi"/>
              </a:rPr>
              <a:t>มิเตอร์ครบก่อนสร้างบิล</a:t>
            </a:r>
          </a:p>
        </p:txBody>
      </p:sp>
      <p:sp>
        <p:nvSpPr>
          <p:cNvPr id="29" name="p1-payment-rule">
            <a:extLst xmlns:a="http://schemas.openxmlformats.org/drawingml/2006/main">
              <a:ext uri="{FF2B5EF4-FFF2-40B4-BE49-F238E27FC236}">
                <a16:creationId xmlns:a16="http://schemas.microsoft.com/office/drawing/2014/main" id="{947C0CCD-FC64-4603-ACCA-919F2C02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768667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666666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666666"/>
                </a:solidFill>
                <a:latin typeface="Thonburi"/>
                <a:ea typeface="Thonburi"/>
                <a:cs typeface="Thonburi"/>
              </a:defRPr>
            </a:pPr>
            <a:r>
              <a:rPr sz="1875" b="0">
                <a:solidFill>
                  <a:srgbClr val="666666"/>
                </a:solidFill>
                <a:latin typeface="Thonburi"/>
                <a:ea typeface="Thonburi"/>
                <a:cs typeface="Thonburi"/>
              </a:rPr>
              <a:t>รับเงินได้เฉพาะบิล Unpaid</a:t>
            </a:r>
          </a:p>
        </p:txBody>
      </p:sp>
      <p:sp>
        <p:nvSpPr>
          <p:cNvPr id="30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CC8DAEED-7151-4852-A505-8D948029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24875"/>
            <a:ext cx="1695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6C6C6"/>
            </a:solidFill>
            <a:prstDash val="solid"/>
          </a:ln>
        </p:spPr>
      </p:sp>
      <p:sp>
        <p:nvSpPr>
          <p:cNvPr id="31" name="p1-staff-role">
            <a:extLst xmlns:a="http://schemas.openxmlformats.org/drawingml/2006/main">
              <a:ext uri="{FF2B5EF4-FFF2-40B4-BE49-F238E27FC236}">
                <a16:creationId xmlns:a16="http://schemas.microsoft.com/office/drawing/2014/main" id="{A1CCED7D-6967-4E00-B883-54A3F722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15375"/>
            <a:ext cx="1657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pPr>
            <a:r>
              <a:rPr sz="2100" b="0">
                <a:solidFill>
                  <a:srgbClr val="222222"/>
                </a:solidFill>
                <a:latin typeface="Thonburi"/>
                <a:ea typeface="Thonburi"/>
                <a:cs typeface="Thonburi"/>
              </a:rPr>
              <a:t>เจ้าหน้าที่: ภาพรวมการจดมิเตอร์ ดูข้อมูลห้องพัก และบันทึกมิเตอร์</a:t>
            </a:r>
          </a:p>
        </p:txBody>
      </p:sp>
      <p:sp>
        <p:nvSpPr>
          <p:cNvPr id="32" name="p1-admin-role">
            <a:extLst xmlns:a="http://schemas.openxmlformats.org/drawingml/2006/main">
              <a:ext uri="{FF2B5EF4-FFF2-40B4-BE49-F238E27FC236}">
                <a16:creationId xmlns:a16="http://schemas.microsoft.com/office/drawing/2014/main" id="{4374A470-BB47-4AF7-85C9-ECC9DE1AF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172575"/>
            <a:ext cx="1571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pPr>
            <a:r>
              <a:rPr sz="2100" b="0">
                <a:solidFill>
                  <a:srgbClr val="222222"/>
                </a:solidFill>
                <a:latin typeface="Thonburi"/>
                <a:ea typeface="Thonburi"/>
                <a:cs typeface="Thonburi"/>
              </a:rPr>
              <a:t>Admin: เข้าถึงทุกส่วน รวมบิล รับเงินสด รายงาน และเมนูประกอบ</a:t>
            </a:r>
          </a:p>
        </p:txBody>
      </p:sp>
    </p:spTree>
    <p:extLst>
      <p:ext uri="{BB962C8B-B14F-4D97-AF65-F5344CB8AC3E}">
        <p14:creationId xmlns:p14="http://schemas.microsoft.com/office/powerpoint/2010/main" val="5360062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E2F3D1-BC66-451D-8C40-98E26A4C95F1}"/>
              </a:ext>
            </a:extLst>
          </p:cNvPr>
          <p:cNvCxnSpPr>
            <a:stCxn xmlns:a="http://schemas.openxmlformats.org/drawingml/2006/main" id="22" idx="3"/>
            <a:endCxn xmlns:a="http://schemas.openxmlformats.org/drawingml/2006/main" id="23" idx="2"/>
          </p:cNvCxnSpPr>
          <p:nvPr/>
        </p:nvCxnSpPr>
        <p:spPr>
          <a:xfrm xmlns:a="http://schemas.openxmlformats.org/drawingml/2006/main">
            <a:off x="13049250" y="7258050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77777"/>
            </a:solidFill>
            <a:prstDash val="dash"/>
            <a:tailEnd type="triangle" w="med" len="me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E813A3-4847-43A0-8B2D-811BF4483E95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8477250" y="7258050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77777"/>
            </a:solidFill>
            <a:prstDash val="dash"/>
            <a:tailEnd type="triangle" w="med" len="me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B0C438-AA27-4B66-B1CD-977FD46F0F10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3905250" y="7258050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22222"/>
            </a:solidFill>
            <a:prstDash val="solid"/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F3EB89-FFE3-4456-AD97-DB18531E6B98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3049250" y="3814763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22222"/>
            </a:solidFill>
            <a:prstDash val="solid"/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E0DAE3-9770-4F3B-B043-703042DFFE91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477250" y="3814763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22222"/>
            </a:solidFill>
            <a:prstDash val="solid"/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550ABD-74F3-4F70-874B-200B2CBA9FE3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905250" y="3814763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22222"/>
            </a:solidFill>
            <a:prstDash val="solid"/>
            <a:tailEnd type="triangle" w="med" len="med"/>
          </a:ln>
        </p:spPr>
      </p:cxnSp>
      <p:sp>
        <p:nvSpPr>
          <p:cNvPr id="3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82AA9AB-34A1-43F8-B6D4-A5B4225F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6954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125" b="1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pPr>
            <a:r>
              <a:rPr sz="4125" b="1">
                <a:solidFill>
                  <a:srgbClr val="222222"/>
                </a:solidFill>
                <a:latin typeface="Thonburi"/>
                <a:ea typeface="Thonburi"/>
                <a:cs typeface="Thonburi"/>
              </a:rPr>
              <a:t>Phase 2  เชื่อมต่อผู้พักอาศัยผ่าน LINE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7518A5C-CCC0-4A88-8D32-3CAB56CC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66825"/>
            <a:ext cx="1695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666666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666666"/>
                </a:solidFill>
                <a:latin typeface="Thonburi"/>
                <a:ea typeface="Thonburi"/>
                <a:cs typeface="Thonburi"/>
              </a:defRPr>
            </a:pPr>
            <a:r>
              <a:rPr sz="2250" b="0">
                <a:solidFill>
                  <a:srgbClr val="666666"/>
                </a:solidFill>
                <a:latin typeface="Thonburi"/>
                <a:ea typeface="Thonburi"/>
                <a:cs typeface="Thonburi"/>
              </a:rPr>
              <a:t>ขอบเขตงาน LINE แยกจากระบบเว็บไซต์หลัก</a:t>
            </a:r>
          </a:p>
        </p:txBody>
      </p:sp>
      <p:sp>
        <p:nvSpPr>
          <p:cNvPr id="3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ECF9AC3C-20FD-4DDF-847E-F967E61D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1695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6C6C6"/>
            </a:solidFill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45DAD1D-46BA-4EDF-A904-B3D7B816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686925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800" b="0">
                <a:solidFill>
                  <a:srgbClr val="666666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r">
              <a:defRPr sz="1800" b="0">
                <a:solidFill>
                  <a:srgbClr val="666666"/>
                </a:solidFill>
                <a:latin typeface="Thonburi"/>
                <a:ea typeface="Thonburi"/>
                <a:cs typeface="Thonburi"/>
              </a:defRPr>
            </a:pPr>
            <a:r>
              <a:rPr sz="1800" b="0">
                <a:solidFill>
                  <a:srgbClr val="666666"/>
                </a:solidFill>
                <a:latin typeface="Thonburi"/>
                <a:ea typeface="Thonburi"/>
                <a:cs typeface="Thonburi"/>
              </a:rPr>
              <a:t>02</a:t>
            </a:r>
          </a:p>
        </p:txBody>
      </p:sp>
      <p:sp>
        <p:nvSpPr>
          <p:cNvPr id="5" name="p2-binding-section">
            <a:extLst xmlns:a="http://schemas.openxmlformats.org/drawingml/2006/main">
              <a:ext uri="{FF2B5EF4-FFF2-40B4-BE49-F238E27FC236}">
                <a16:creationId xmlns:a16="http://schemas.microsoft.com/office/drawing/2014/main" id="{367CB417-6887-4C0A-930A-E1CE7CA0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762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pPr>
            <a:r>
              <a:rPr sz="2550" b="1">
                <a:solidFill>
                  <a:srgbClr val="222222"/>
                </a:solidFill>
                <a:latin typeface="Thonburi"/>
                <a:ea typeface="Thonburi"/>
                <a:cs typeface="Thonburi"/>
              </a:rPr>
              <a:t>การผูกบัญชีผู้พักอาศัย</a:t>
            </a:r>
          </a:p>
        </p:txBody>
      </p:sp>
      <p:sp>
        <p:nvSpPr>
          <p:cNvPr id="6" name="p2-existing-note">
            <a:extLst xmlns:a="http://schemas.openxmlformats.org/drawingml/2006/main">
              <a:ext uri="{FF2B5EF4-FFF2-40B4-BE49-F238E27FC236}">
                <a16:creationId xmlns:a16="http://schemas.microsoft.com/office/drawing/2014/main" id="{756087C9-AF4F-400A-8F80-B06ED187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238375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2175" b="0">
                <a:solidFill>
                  <a:srgbClr val="666666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r">
              <a:defRPr sz="2175" b="0">
                <a:solidFill>
                  <a:srgbClr val="666666"/>
                </a:solidFill>
                <a:latin typeface="Thonburi"/>
                <a:ea typeface="Thonburi"/>
                <a:cs typeface="Thonburi"/>
              </a:defRPr>
            </a:pPr>
            <a:r>
              <a:rPr sz="2175" b="0">
                <a:solidFill>
                  <a:srgbClr val="666666"/>
                </a:solidFill>
                <a:latin typeface="Thonburi"/>
                <a:ea typeface="Thonburi"/>
                <a:cs typeface="Thonburi"/>
              </a:rPr>
              <a:t>มีโค้ดรองรับแล้ว</a:t>
            </a:r>
          </a:p>
        </p:txBody>
      </p:sp>
      <p:sp>
        <p:nvSpPr>
          <p:cNvPr id="7" name="p2-link-code">
            <a:extLst xmlns:a="http://schemas.openxmlformats.org/drawingml/2006/main">
              <a:ext uri="{FF2B5EF4-FFF2-40B4-BE49-F238E27FC236}">
                <a16:creationId xmlns:a16="http://schemas.microsoft.com/office/drawing/2014/main" id="{BA48DB13-5A7D-41AE-8EAD-BC3ADA95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76575"/>
            <a:ext cx="32385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22222"/>
            </a:solidFill>
            <a:prstDash val="solid"/>
          </a:ln>
        </p:spPr>
        <p:txBody>
          <a:bodyPr xmlns:a="http://schemas.openxmlformats.org/drawingml/2006/main" wrap="none" lIns="133350" tIns="114300" rIns="133350" bIns="11430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ctr">
              <a:spcAft>
                <a:spcPts val="350"/>
              </a:spcAft>
              <a:defRPr sz="2025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pPr>
            <a:r>
              <a:rPr sz="2025" b="1">
                <a:solidFill>
                  <a:srgbClr val="222222"/>
                </a:solidFill>
                <a:latin typeface="Thonburi"/>
                <a:ea typeface="Thonburi"/>
                <a:cs typeface="Thonburi"/>
              </a:rPr>
              <a:t>Admin สร้าง</a:t>
            </a:r>
          </a:p>
          <a:p xmlns:a="http://schemas.openxmlformats.org/drawingml/2006/main">
            <a:pPr algn="ctr">
              <a:spcAft>
                <a:spcPts val="150"/>
              </a:spcAft>
              <a:defRPr sz="2025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22222"/>
                </a:solidFill>
                <a:latin typeface="Thonburi"/>
                <a:ea typeface="Thonburi"/>
                <a:cs typeface="Thonburi"/>
              </a:rPr>
              <a:t>รหัสผูกบัญชี</a:t>
            </a:r>
          </a:p>
        </p:txBody>
      </p:sp>
      <p:sp>
        <p:nvSpPr>
          <p:cNvPr id="8" name="p2-send-code">
            <a:extLst xmlns:a="http://schemas.openxmlformats.org/drawingml/2006/main">
              <a:ext uri="{FF2B5EF4-FFF2-40B4-BE49-F238E27FC236}">
                <a16:creationId xmlns:a16="http://schemas.microsoft.com/office/drawing/2014/main" id="{297DAEE6-3428-426C-BC63-21BE7E0C7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76575"/>
            <a:ext cx="32385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22222"/>
            </a:solidFill>
            <a:prstDash val="solid"/>
          </a:ln>
        </p:spPr>
        <p:txBody>
          <a:bodyPr xmlns:a="http://schemas.openxmlformats.org/drawingml/2006/main" wrap="none" lIns="133350" tIns="114300" rIns="133350" bIns="11430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ctr">
              <a:spcAft>
                <a:spcPts val="350"/>
              </a:spcAft>
              <a:defRPr sz="2025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pPr>
            <a:r>
              <a:rPr sz="2025" b="1">
                <a:solidFill>
                  <a:srgbClr val="222222"/>
                </a:solidFill>
                <a:latin typeface="Thonburi"/>
                <a:ea typeface="Thonburi"/>
                <a:cs typeface="Thonburi"/>
              </a:rPr>
              <a:t>ผู้พักอาศัยส่งรหัส</a:t>
            </a:r>
          </a:p>
          <a:p xmlns:a="http://schemas.openxmlformats.org/drawingml/2006/main">
            <a:pPr algn="ctr">
              <a:spcAft>
                <a:spcPts val="150"/>
              </a:spcAft>
              <a:defRPr sz="2025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22222"/>
                </a:solidFill>
                <a:latin typeface="Thonburi"/>
                <a:ea typeface="Thonburi"/>
                <a:cs typeface="Thonburi"/>
              </a:rPr>
              <a:t>ผ่าน LINE</a:t>
            </a:r>
          </a:p>
        </p:txBody>
      </p:sp>
      <p:sp>
        <p:nvSpPr>
          <p:cNvPr id="9" name="p2-webhook">
            <a:extLst xmlns:a="http://schemas.openxmlformats.org/drawingml/2006/main">
              <a:ext uri="{FF2B5EF4-FFF2-40B4-BE49-F238E27FC236}">
                <a16:creationId xmlns:a16="http://schemas.microsoft.com/office/drawing/2014/main" id="{5C3E37D2-0E1C-4E6A-9516-B1860E1B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76575"/>
            <a:ext cx="32385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22222"/>
            </a:solidFill>
            <a:prstDash val="solid"/>
          </a:ln>
        </p:spPr>
        <p:txBody>
          <a:bodyPr xmlns:a="http://schemas.openxmlformats.org/drawingml/2006/main" wrap="none" lIns="133350" tIns="114300" rIns="133350" bIns="11430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ctr">
              <a:spcAft>
                <a:spcPts val="350"/>
              </a:spcAft>
              <a:defRPr sz="2025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pPr>
            <a:r>
              <a:rPr sz="2025" b="1">
                <a:solidFill>
                  <a:srgbClr val="222222"/>
                </a:solidFill>
                <a:latin typeface="Thonburi"/>
                <a:ea typeface="Thonburi"/>
                <a:cs typeface="Thonburi"/>
              </a:rPr>
              <a:t>LINE Webhook</a:t>
            </a:r>
          </a:p>
          <a:p xmlns:a="http://schemas.openxmlformats.org/drawingml/2006/main">
            <a:pPr algn="ctr">
              <a:spcAft>
                <a:spcPts val="150"/>
              </a:spcAft>
              <a:defRPr sz="2025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22222"/>
                </a:solidFill>
                <a:latin typeface="Thonburi"/>
                <a:ea typeface="Thonburi"/>
                <a:cs typeface="Thonburi"/>
              </a:rPr>
              <a:t>ตรวจลายเซ็นและรหัส</a:t>
            </a:r>
          </a:p>
        </p:txBody>
      </p:sp>
      <p:sp>
        <p:nvSpPr>
          <p:cNvPr id="10" name="p2-binding">
            <a:extLst xmlns:a="http://schemas.openxmlformats.org/drawingml/2006/main">
              <a:ext uri="{FF2B5EF4-FFF2-40B4-BE49-F238E27FC236}">
                <a16:creationId xmlns:a16="http://schemas.microsoft.com/office/drawing/2014/main" id="{66F4D35F-70E7-4FB7-A870-CE6BF2253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3076575"/>
            <a:ext cx="32385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22222"/>
            </a:solidFill>
            <a:prstDash val="solid"/>
          </a:ln>
        </p:spPr>
        <p:txBody>
          <a:bodyPr xmlns:a="http://schemas.openxmlformats.org/drawingml/2006/main" wrap="none" lIns="133350" tIns="114300" rIns="133350" bIns="11430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ctr">
              <a:spcAft>
                <a:spcPts val="350"/>
              </a:spcAft>
              <a:defRPr sz="2025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pPr>
            <a:r>
              <a:rPr sz="2025" b="1">
                <a:solidFill>
                  <a:srgbClr val="222222"/>
                </a:solidFill>
                <a:latin typeface="Thonburi"/>
                <a:ea typeface="Thonburi"/>
                <a:cs typeface="Thonburi"/>
              </a:rPr>
              <a:t>บันทึก LINE User ID</a:t>
            </a:r>
          </a:p>
          <a:p xmlns:a="http://schemas.openxmlformats.org/drawingml/2006/main">
            <a:pPr algn="ctr">
              <a:spcAft>
                <a:spcPts val="150"/>
              </a:spcAft>
              <a:defRPr sz="2025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22222"/>
                </a:solidFill>
                <a:latin typeface="Thonburi"/>
                <a:ea typeface="Thonburi"/>
                <a:cs typeface="Thonburi"/>
              </a:rPr>
              <a:t>ในข้อมูลผู้เช่า</a:t>
            </a:r>
          </a:p>
        </p:txBody>
      </p:sp>
      <p:sp>
        <p:nvSpPr>
          <p:cNvPr id="14" name="p2-code-label">
            <a:extLst xmlns:a="http://schemas.openxmlformats.org/drawingml/2006/main">
              <a:ext uri="{FF2B5EF4-FFF2-40B4-BE49-F238E27FC236}">
                <a16:creationId xmlns:a16="http://schemas.microsoft.com/office/drawing/2014/main" id="{BF82D024-E8A1-4D45-BE3D-70D1EBE8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267075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pPr>
            <a:r>
              <a:rPr sz="1800" b="0">
                <a:solidFill>
                  <a:srgbClr val="222222"/>
                </a:solidFill>
                <a:latin typeface="Thonburi"/>
                <a:ea typeface="Thonburi"/>
                <a:cs typeface="Thonburi"/>
              </a:rPr>
              <a:t>รับรหัส</a:t>
            </a:r>
          </a:p>
        </p:txBody>
      </p:sp>
      <p:sp>
        <p:nvSpPr>
          <p:cNvPr id="15" name="p2-message-label">
            <a:extLst xmlns:a="http://schemas.openxmlformats.org/drawingml/2006/main">
              <a:ext uri="{FF2B5EF4-FFF2-40B4-BE49-F238E27FC236}">
                <a16:creationId xmlns:a16="http://schemas.microsoft.com/office/drawing/2014/main" id="{1EE7B4CD-8CE4-462F-BED8-841C0A0C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267075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pPr>
            <a:r>
              <a:rPr sz="1800" b="0">
                <a:solidFill>
                  <a:srgbClr val="222222"/>
                </a:solidFill>
                <a:latin typeface="Thonburi"/>
                <a:ea typeface="Thonburi"/>
                <a:cs typeface="Thonburi"/>
              </a:rPr>
              <a:t>ข้อความ</a:t>
            </a:r>
          </a:p>
        </p:txBody>
      </p:sp>
      <p:sp>
        <p:nvSpPr>
          <p:cNvPr id="16" name="p2-binding-label">
            <a:extLst xmlns:a="http://schemas.openxmlformats.org/drawingml/2006/main">
              <a:ext uri="{FF2B5EF4-FFF2-40B4-BE49-F238E27FC236}">
                <a16:creationId xmlns:a16="http://schemas.microsoft.com/office/drawing/2014/main" id="{F300F385-53DF-4529-B5CE-5EE40F79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267075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pPr>
            <a:r>
              <a:rPr sz="1725" b="0">
                <a:solidFill>
                  <a:srgbClr val="222222"/>
                </a:solidFill>
                <a:latin typeface="Thonburi"/>
                <a:ea typeface="Thonburi"/>
                <a:cs typeface="Thonburi"/>
              </a:rPr>
              <a:t>ตรวจสอบผ่าน</a:t>
            </a:r>
          </a:p>
        </p:txBody>
      </p:sp>
      <p:sp>
        <p:nvSpPr>
          <p:cNvPr id="17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0D5ABD4E-CAC8-4744-A285-4AB7CF5FB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05400"/>
            <a:ext cx="1695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6C6C6"/>
            </a:solidFill>
            <a:prstDash val="solid"/>
          </a:ln>
        </p:spPr>
      </p:sp>
      <p:sp>
        <p:nvSpPr>
          <p:cNvPr id="18" name="p2-delivery-section">
            <a:extLst xmlns:a="http://schemas.openxmlformats.org/drawingml/2006/main">
              <a:ext uri="{FF2B5EF4-FFF2-40B4-BE49-F238E27FC236}">
                <a16:creationId xmlns:a16="http://schemas.microsoft.com/office/drawing/2014/main" id="{D481DDF9-00A3-4F91-AF39-510999E22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435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pPr>
            <a:r>
              <a:rPr sz="2550" b="1">
                <a:solidFill>
                  <a:srgbClr val="222222"/>
                </a:solidFill>
                <a:latin typeface="Thonburi"/>
                <a:ea typeface="Thonburi"/>
                <a:cs typeface="Thonburi"/>
              </a:rPr>
              <a:t>การส่งบิลและข้อความแจ้งเตือน</a:t>
            </a:r>
          </a:p>
        </p:txBody>
      </p:sp>
      <p:sp>
        <p:nvSpPr>
          <p:cNvPr id="19" name="p2-delivery-status">
            <a:extLst xmlns:a="http://schemas.openxmlformats.org/drawingml/2006/main">
              <a:ext uri="{FF2B5EF4-FFF2-40B4-BE49-F238E27FC236}">
                <a16:creationId xmlns:a16="http://schemas.microsoft.com/office/drawing/2014/main" id="{C0699715-E0C9-4881-9324-5EDD6294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343525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2175" b="0">
                <a:solidFill>
                  <a:srgbClr val="666666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r">
              <a:defRPr sz="2175" b="0">
                <a:solidFill>
                  <a:srgbClr val="666666"/>
                </a:solidFill>
                <a:latin typeface="Thonburi"/>
                <a:ea typeface="Thonburi"/>
                <a:cs typeface="Thonburi"/>
              </a:defRPr>
            </a:pPr>
            <a:r>
              <a:rPr sz="2175" b="0">
                <a:solidFill>
                  <a:srgbClr val="666666"/>
                </a:solidFill>
                <a:latin typeface="Thonburi"/>
                <a:ea typeface="Thonburi"/>
                <a:cs typeface="Thonburi"/>
              </a:rPr>
              <a:t>ส่วนส่งจริงยังต้องพัฒนาต่อ</a:t>
            </a:r>
          </a:p>
        </p:txBody>
      </p:sp>
      <p:sp>
        <p:nvSpPr>
          <p:cNvPr id="20" name="p2-unpaid-bills">
            <a:extLst xmlns:a="http://schemas.openxmlformats.org/drawingml/2006/main">
              <a:ext uri="{FF2B5EF4-FFF2-40B4-BE49-F238E27FC236}">
                <a16:creationId xmlns:a16="http://schemas.microsoft.com/office/drawing/2014/main" id="{360CE8E6-3D68-4AE2-862D-DC259906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32385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19050">
            <a:solidFill>
              <a:srgbClr val="222222"/>
            </a:solidFill>
            <a:prstDash val="solid"/>
          </a:ln>
        </p:spPr>
        <p:txBody>
          <a:bodyPr xmlns:a="http://schemas.openxmlformats.org/drawingml/2006/main" wrap="none" lIns="133350" tIns="114300" rIns="133350" bIns="11430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ctr">
              <a:spcAft>
                <a:spcPts val="350"/>
              </a:spcAft>
              <a:defRPr sz="2025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pPr>
            <a:r>
              <a:rPr sz="2025" b="1">
                <a:solidFill>
                  <a:srgbClr val="222222"/>
                </a:solidFill>
                <a:latin typeface="Thonburi"/>
                <a:ea typeface="Thonburi"/>
                <a:cs typeface="Thonburi"/>
              </a:rPr>
              <a:t>บิล Unpaid</a:t>
            </a:r>
          </a:p>
          <a:p xmlns:a="http://schemas.openxmlformats.org/drawingml/2006/main">
            <a:pPr algn="ctr">
              <a:spcAft>
                <a:spcPts val="150"/>
              </a:spcAft>
              <a:defRPr sz="2025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22222"/>
                </a:solidFill>
                <a:latin typeface="Thonburi"/>
                <a:ea typeface="Thonburi"/>
                <a:cs typeface="Thonburi"/>
              </a:rPr>
              <a:t>และวันครบกำหนด</a:t>
            </a:r>
          </a:p>
        </p:txBody>
      </p:sp>
      <p:sp>
        <p:nvSpPr>
          <p:cNvPr id="21" name="p2-reminder-queue">
            <a:extLst xmlns:a="http://schemas.openxmlformats.org/drawingml/2006/main">
              <a:ext uri="{FF2B5EF4-FFF2-40B4-BE49-F238E27FC236}">
                <a16:creationId xmlns:a16="http://schemas.microsoft.com/office/drawing/2014/main" id="{899DEEF7-BDBA-4F23-BB13-1954A1FD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6419850"/>
            <a:ext cx="32385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19050">
            <a:solidFill>
              <a:srgbClr val="222222"/>
            </a:solidFill>
            <a:prstDash val="solid"/>
          </a:ln>
        </p:spPr>
        <p:txBody>
          <a:bodyPr xmlns:a="http://schemas.openxmlformats.org/drawingml/2006/main" wrap="none" lIns="133350" tIns="114300" rIns="133350" bIns="114300" anchor="ctr">
            <a:noAutofit/>
          </a:bodyPr>
          <a:lstStyle xmlns:a="http://schemas.openxmlformats.org/drawingml/2006/main">
            <a:defPPr algn="ctr">
              <a:defRPr sz="1950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ctr">
              <a:spcAft>
                <a:spcPts val="350"/>
              </a:spcAft>
              <a:defRPr sz="1950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pPr>
            <a:r>
              <a:rPr sz="1950" b="1">
                <a:solidFill>
                  <a:srgbClr val="222222"/>
                </a:solidFill>
                <a:latin typeface="Thonburi"/>
                <a:ea typeface="Thonburi"/>
                <a:cs typeface="Thonburi"/>
              </a:rPr>
              <a:t>งานตรวจรายวัน</a:t>
            </a:r>
          </a:p>
          <a:p xmlns:a="http://schemas.openxmlformats.org/drawingml/2006/main">
            <a:pPr algn="ctr">
              <a:spcAft>
                <a:spcPts val="150"/>
              </a:spcAft>
              <a:defRPr sz="1950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pPr>
            <a:r>
              <a:rPr sz="1950" b="0">
                <a:solidFill>
                  <a:srgbClr val="222222"/>
                </a:solidFill>
                <a:latin typeface="Thonburi"/>
                <a:ea typeface="Thonburi"/>
                <a:cs typeface="Thonburi"/>
              </a:rPr>
              <a:t>จัดคิวแจ้งเตือน</a:t>
            </a:r>
          </a:p>
          <a:p xmlns:a="http://schemas.openxmlformats.org/drawingml/2006/main">
            <a:pPr algn="ctr">
              <a:spcAft>
                <a:spcPts val="150"/>
              </a:spcAft>
              <a:defRPr sz="1950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pPr>
            <a:r>
              <a:rPr sz="1950" b="0">
                <a:solidFill>
                  <a:srgbClr val="222222"/>
                </a:solidFill>
                <a:latin typeface="Thonburi"/>
                <a:ea typeface="Thonburi"/>
                <a:cs typeface="Thonburi"/>
              </a:rPr>
              <a:t>ก่อนกำหนด / ค้างชำระ</a:t>
            </a:r>
          </a:p>
        </p:txBody>
      </p:sp>
      <p:sp>
        <p:nvSpPr>
          <p:cNvPr id="22" name="p2-outbound-api">
            <a:extLst xmlns:a="http://schemas.openxmlformats.org/drawingml/2006/main">
              <a:ext uri="{FF2B5EF4-FFF2-40B4-BE49-F238E27FC236}">
                <a16:creationId xmlns:a16="http://schemas.microsoft.com/office/drawing/2014/main" id="{1A7B8DBE-0EDE-4669-A90E-62872FB0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19850"/>
            <a:ext cx="32385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77777"/>
            </a:solidFill>
            <a:prstDash val="dash"/>
          </a:ln>
        </p:spPr>
        <p:txBody>
          <a:bodyPr xmlns:a="http://schemas.openxmlformats.org/drawingml/2006/main" wrap="none" lIns="133350" tIns="114300" rIns="133350" bIns="11430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ctr">
              <a:spcAft>
                <a:spcPts val="350"/>
              </a:spcAft>
              <a:defRPr sz="2025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pPr>
            <a:r>
              <a:rPr sz="2025" b="1">
                <a:solidFill>
                  <a:srgbClr val="222222"/>
                </a:solidFill>
                <a:latin typeface="Thonburi"/>
                <a:ea typeface="Thonburi"/>
                <a:cs typeface="Thonburi"/>
              </a:rPr>
              <a:t>LINE Messaging API</a:t>
            </a:r>
          </a:p>
          <a:p xmlns:a="http://schemas.openxmlformats.org/drawingml/2006/main">
            <a:pPr algn="ctr">
              <a:spcAft>
                <a:spcPts val="150"/>
              </a:spcAft>
              <a:defRPr sz="2025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22222"/>
                </a:solidFill>
                <a:latin typeface="Thonburi"/>
                <a:ea typeface="Thonburi"/>
                <a:cs typeface="Thonburi"/>
              </a:rPr>
              <a:t>ส่งบิล / เตือนชำระ</a:t>
            </a:r>
          </a:p>
          <a:p xmlns:a="http://schemas.openxmlformats.org/drawingml/2006/main">
            <a:pPr algn="ctr">
              <a:spcAft>
                <a:spcPts val="150"/>
              </a:spcAft>
              <a:defRPr sz="2025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222222"/>
                </a:solidFill>
                <a:latin typeface="Thonburi"/>
                <a:ea typeface="Thonburi"/>
                <a:cs typeface="Thonburi"/>
              </a:rPr>
              <a:t>กระจายประกาศ</a:t>
            </a:r>
          </a:p>
        </p:txBody>
      </p:sp>
      <p:sp>
        <p:nvSpPr>
          <p:cNvPr id="23" name="p2-resident-delivery">
            <a:extLst xmlns:a="http://schemas.openxmlformats.org/drawingml/2006/main">
              <a:ext uri="{FF2B5EF4-FFF2-40B4-BE49-F238E27FC236}">
                <a16:creationId xmlns:a16="http://schemas.microsoft.com/office/drawing/2014/main" id="{3C732C90-B8CA-4749-8653-40377856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6419850"/>
            <a:ext cx="3238500" cy="167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77777"/>
            </a:solidFill>
            <a:prstDash val="dash"/>
          </a:ln>
        </p:spPr>
        <p:txBody>
          <a:bodyPr xmlns:a="http://schemas.openxmlformats.org/drawingml/2006/main" wrap="none" lIns="133350" tIns="114300" rIns="133350" bIns="114300" anchor="ctr">
            <a:noAutofit/>
          </a:bodyPr>
          <a:lstStyle xmlns:a="http://schemas.openxmlformats.org/drawingml/2006/main">
            <a:defPPr algn="ctr">
              <a:defRPr sz="1875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ctr">
              <a:spcAft>
                <a:spcPts val="350"/>
              </a:spcAft>
              <a:defRPr sz="1875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pPr>
            <a:r>
              <a:rPr sz="1875" b="1">
                <a:solidFill>
                  <a:srgbClr val="222222"/>
                </a:solidFill>
                <a:latin typeface="Thonburi"/>
                <a:ea typeface="Thonburi"/>
                <a:cs typeface="Thonburi"/>
              </a:rPr>
              <a:t>ผู้พักอาศัย</a:t>
            </a:r>
          </a:p>
          <a:p xmlns:a="http://schemas.openxmlformats.org/drawingml/2006/main">
            <a:pPr algn="ctr">
              <a:spcAft>
                <a:spcPts val="150"/>
              </a:spcAft>
              <a:defRPr sz="1875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pPr>
            <a:r>
              <a:rPr sz="1875" b="0">
                <a:solidFill>
                  <a:srgbClr val="222222"/>
                </a:solidFill>
                <a:latin typeface="Thonburi"/>
                <a:ea typeface="Thonburi"/>
                <a:cs typeface="Thonburi"/>
              </a:rPr>
              <a:t>รับข้อความผ่าน LINE OA</a:t>
            </a:r>
          </a:p>
        </p:txBody>
      </p:sp>
      <p:sp>
        <p:nvSpPr>
          <p:cNvPr id="27" name="p2-job-label">
            <a:extLst xmlns:a="http://schemas.openxmlformats.org/drawingml/2006/main">
              <a:ext uri="{FF2B5EF4-FFF2-40B4-BE49-F238E27FC236}">
                <a16:creationId xmlns:a16="http://schemas.microsoft.com/office/drawing/2014/main" id="{97FB8BC0-1D8C-4BD3-8E9A-CEC6B95CC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715125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pPr>
            <a:r>
              <a:rPr sz="1725" b="0">
                <a:solidFill>
                  <a:srgbClr val="222222"/>
                </a:solidFill>
                <a:latin typeface="Thonburi"/>
                <a:ea typeface="Thonburi"/>
                <a:cs typeface="Thonburi"/>
              </a:rPr>
              <a:t>เมื่อเรียกงาน</a:t>
            </a:r>
          </a:p>
        </p:txBody>
      </p:sp>
      <p:sp>
        <p:nvSpPr>
          <p:cNvPr id="28" name="p2-api-label">
            <a:extLst xmlns:a="http://schemas.openxmlformats.org/drawingml/2006/main">
              <a:ext uri="{FF2B5EF4-FFF2-40B4-BE49-F238E27FC236}">
                <a16:creationId xmlns:a16="http://schemas.microsoft.com/office/drawing/2014/main" id="{41337F5B-7D3B-4689-BBF9-9232932A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715125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pPr>
            <a:r>
              <a:rPr sz="1800" b="0">
                <a:solidFill>
                  <a:srgbClr val="222222"/>
                </a:solidFill>
                <a:latin typeface="Thonburi"/>
                <a:ea typeface="Thonburi"/>
                <a:cs typeface="Thonburi"/>
              </a:rPr>
              <a:t>เชื่อม API</a:t>
            </a:r>
          </a:p>
        </p:txBody>
      </p:sp>
      <p:sp>
        <p:nvSpPr>
          <p:cNvPr id="29" name="p2-deliver-label">
            <a:extLst xmlns:a="http://schemas.openxmlformats.org/drawingml/2006/main">
              <a:ext uri="{FF2B5EF4-FFF2-40B4-BE49-F238E27FC236}">
                <a16:creationId xmlns:a16="http://schemas.microsoft.com/office/drawing/2014/main" id="{EE59C304-D701-4ECA-85C5-447FA9A6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6715125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pPr>
            <a:r>
              <a:rPr sz="1800" b="0">
                <a:solidFill>
                  <a:srgbClr val="222222"/>
                </a:solidFill>
                <a:latin typeface="Thonburi"/>
                <a:ea typeface="Thonburi"/>
                <a:cs typeface="Thonburi"/>
              </a:rPr>
              <a:t>ส่งข้อความ</a:t>
            </a:r>
          </a:p>
        </p:txBody>
      </p:sp>
      <p:sp>
        <p:nvSpPr>
          <p:cNvPr id="30" name="p2-scope-note">
            <a:extLst xmlns:a="http://schemas.openxmlformats.org/drawingml/2006/main">
              <a:ext uri="{FF2B5EF4-FFF2-40B4-BE49-F238E27FC236}">
                <a16:creationId xmlns:a16="http://schemas.microsoft.com/office/drawing/2014/main" id="{5CD4EB6A-4ED0-4A58-829A-93C086063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458200"/>
            <a:ext cx="1695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22222"/>
                </a:solidFill>
                <a:latin typeface="Thonburi"/>
                <a:ea typeface="Thonburi"/>
                <a:cs typeface="Thonburi"/>
              </a:defRPr>
            </a:pPr>
            <a:r>
              <a:rPr sz="2100" b="0">
                <a:solidFill>
                  <a:srgbClr val="222222"/>
                </a:solidFill>
                <a:latin typeface="Thonburi"/>
                <a:ea typeface="Thonburi"/>
                <a:cs typeface="Thonburi"/>
              </a:rPr>
              <a:t>ประกาศบันทึกในเว็บได้แล้ว การส่งบิลและกระจายข้อความผ่าน LINE อยู่ใน Phase 2</a:t>
            </a:r>
          </a:p>
        </p:txBody>
      </p:sp>
      <p:sp>
        <p:nvSpPr>
          <p:cNvPr id="31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D951395D-BBA5-44B6-9522-FD3F9051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105900"/>
            <a:ext cx="1695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6C6C6"/>
            </a:solidFill>
            <a:prstDash val="solid"/>
          </a:ln>
        </p:spPr>
      </p:sp>
      <p:sp>
        <p:nvSpPr>
          <p:cNvPr id="32" name="p2-status-legend">
            <a:extLst xmlns:a="http://schemas.openxmlformats.org/drawingml/2006/main">
              <a:ext uri="{FF2B5EF4-FFF2-40B4-BE49-F238E27FC236}">
                <a16:creationId xmlns:a16="http://schemas.microsoft.com/office/drawing/2014/main" id="{E0E1C2A4-226F-4518-8C7A-F93A0928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277350"/>
            <a:ext cx="1609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666666"/>
                </a:solidFill>
                <a:latin typeface="Thonburi"/>
                <a:ea typeface="Thonburi"/>
                <a:cs typeface="Thonbur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666666"/>
                </a:solidFill>
                <a:latin typeface="Thonburi"/>
                <a:ea typeface="Thonburi"/>
                <a:cs typeface="Thonburi"/>
              </a:defRPr>
            </a:pPr>
            <a:r>
              <a:rPr sz="1950" b="0">
                <a:solidFill>
                  <a:srgbClr val="666666"/>
                </a:solidFill>
                <a:latin typeface="Thonburi"/>
                <a:ea typeface="Thonburi"/>
                <a:cs typeface="Thonburi"/>
              </a:rPr>
              <a:t>เส้นทึบ: มีโค้ดรองรับแล้ว     เส้นประ: ส่วนที่ต้องพัฒนาต่อเพื่อส่งข้อความจริง</a:t>
            </a:r>
          </a:p>
        </p:txBody>
      </p:sp>
    </p:spTree>
    <p:extLst>
      <p:ext uri="{BB962C8B-B14F-4D97-AF65-F5344CB8AC3E}">
        <p14:creationId xmlns:p14="http://schemas.microsoft.com/office/powerpoint/2010/main" val="5229286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2026-10-16T17:39:23.6360000Z</dcterms:created>
  <dcterms:modified xsi:type="dcterms:W3CDTF">2026-10-16T17:39:23.6360000Z</dcterms:modified>
</coreProperties>
</file>