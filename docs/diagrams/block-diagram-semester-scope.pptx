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7E3F703-C6DD-4E72-AF4E-03A2341D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5C13B0C-44DC-47EB-BEF7-B702F5C70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342BB30-1164-4F87-B8F7-437752E1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CDC9B7-8D0D-4823-9074-9C526D25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D35EE23-B8A2-499C-BB82-714F7F532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6EA9315-D886-431A-A2E0-05727F20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6779720-688F-4E73-BBCD-9C7DAE31F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11C7CBD-E2E3-4471-B1DE-C7607565EB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23AB88E-B5DC-4CED-8EDA-1E195E67B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5BD5803-739A-41D7-B303-4BC4B89A1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ource-1">
            <a:extLst>
              <a:ext uri="{FF2B5EF4-FFF2-40B4-BE49-F238E27FC236}">
                <a16:creationId xmlns:a16="http://schemas.microsoft.com/office/drawing/2014/main" id="{24CB54D8-97CC-4D75-A90D-CA6259B96E40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76200" cy="933450"/>
          </a:xfrm>
          <a:prstGeom prst="roundRect">
            <a:avLst>
              <a:gd name="adj" fmla="val 50000"/>
            </a:avLst>
          </a:prstGeom>
          <a:solidFill>
            <a:srgbClr val="176B5B"/>
          </a:solidFill>
          <a:ln w="9525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" name="source-8">
            <a:extLst>
              <a:ext uri="{FF2B5EF4-FFF2-40B4-BE49-F238E27FC236}">
                <a16:creationId xmlns:a16="http://schemas.microsoft.com/office/drawing/2014/main" id="{48E9C7A2-78D0-4EBD-98B1-CA766372104A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629900" cy="7753350"/>
          </a:xfrm>
          <a:prstGeom prst="roundRect">
            <a:avLst>
              <a:gd name="adj" fmla="val 2948"/>
            </a:avLst>
          </a:prstGeom>
          <a:solidFill>
            <a:srgbClr val="F0F7F3"/>
          </a:solidFill>
          <a:ln w="19050">
            <a:solidFill>
              <a:srgbClr val="BFD8C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ource-10">
            <a:extLst>
              <a:ext uri="{FF2B5EF4-FFF2-40B4-BE49-F238E27FC236}">
                <a16:creationId xmlns:a16="http://schemas.microsoft.com/office/drawing/2014/main" id="{0CA357DA-9D4D-43C4-9020-FE55EF73B91F}"/>
              </a:ext>
            </a:extLst>
          </p:cNvPr>
          <p:cNvSpPr>
            <a:spLocks noGrp="1"/>
          </p:cNvSpPr>
          <p:nvPr/>
        </p:nvSpPr>
        <p:spPr>
          <a:xfrm>
            <a:off x="9024287" y="2038351"/>
            <a:ext cx="1847850" cy="438150"/>
          </a:xfrm>
          <a:prstGeom prst="roundRect">
            <a:avLst>
              <a:gd name="adj" fmla="val 50000"/>
            </a:avLst>
          </a:prstGeom>
          <a:solidFill>
            <a:srgbClr val="176B5B"/>
          </a:solidFill>
          <a:ln w="9525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ource-11 พัฒนาแล้ว">
            <a:extLst>
              <a:ext uri="{FF2B5EF4-FFF2-40B4-BE49-F238E27FC236}">
                <a16:creationId xmlns:a16="http://schemas.microsoft.com/office/drawing/2014/main" id="{96238792-7847-40C9-BC6B-E422709AECE6}"/>
              </a:ext>
            </a:extLst>
          </p:cNvPr>
          <p:cNvSpPr>
            <a:spLocks noGrp="1"/>
          </p:cNvSpPr>
          <p:nvPr/>
        </p:nvSpPr>
        <p:spPr>
          <a:xfrm>
            <a:off x="9480111" y="2133600"/>
            <a:ext cx="1137493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72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พัฒนาแล้ว</a:t>
            </a:r>
          </a:p>
        </p:txBody>
      </p:sp>
      <p:sp>
        <p:nvSpPr>
          <p:cNvPr id="5" name="source-13">
            <a:extLst>
              <a:ext uri="{FF2B5EF4-FFF2-40B4-BE49-F238E27FC236}">
                <a16:creationId xmlns:a16="http://schemas.microsoft.com/office/drawing/2014/main" id="{FD28A4C9-2237-4AAD-906D-DBE442CD0505}"/>
              </a:ext>
            </a:extLst>
          </p:cNvPr>
          <p:cNvSpPr>
            <a:spLocks noGrp="1"/>
          </p:cNvSpPr>
          <p:nvPr/>
        </p:nvSpPr>
        <p:spPr>
          <a:xfrm>
            <a:off x="3619500" y="3009900"/>
            <a:ext cx="46101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76A1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ource-14 ผู้ดูแลระบบ / เจ้าหน้าที่">
            <a:extLst>
              <a:ext uri="{FF2B5EF4-FFF2-40B4-BE49-F238E27FC236}">
                <a16:creationId xmlns:a16="http://schemas.microsoft.com/office/drawing/2014/main" id="{6606DB90-BFCA-48FC-A9FA-35704E70B91A}"/>
              </a:ext>
            </a:extLst>
          </p:cNvPr>
          <p:cNvSpPr>
            <a:spLocks noGrp="1"/>
          </p:cNvSpPr>
          <p:nvPr/>
        </p:nvSpPr>
        <p:spPr>
          <a:xfrm>
            <a:off x="4742420" y="3143204"/>
            <a:ext cx="2554784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ผู้ดูแลระบบ / เจ้าหน้าที่</a:t>
            </a:r>
          </a:p>
        </p:txBody>
      </p:sp>
      <p:sp>
        <p:nvSpPr>
          <p:cNvPr id="7" name="source-16">
            <a:extLst>
              <a:ext uri="{FF2B5EF4-FFF2-40B4-BE49-F238E27FC236}">
                <a16:creationId xmlns:a16="http://schemas.microsoft.com/office/drawing/2014/main" id="{A685664D-0B29-4A37-B24B-533656114837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9944100" cy="38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8575">
            <a:solidFill>
              <a:srgbClr val="176B5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ource-20">
            <a:extLst>
              <a:ext uri="{FF2B5EF4-FFF2-40B4-BE49-F238E27FC236}">
                <a16:creationId xmlns:a16="http://schemas.microsoft.com/office/drawing/2014/main" id="{8E66FD84-CAEB-4629-A838-98D71F285987}"/>
              </a:ext>
            </a:extLst>
          </p:cNvPr>
          <p:cNvSpPr>
            <a:spLocks noGrp="1"/>
          </p:cNvSpPr>
          <p:nvPr/>
        </p:nvSpPr>
        <p:spPr>
          <a:xfrm>
            <a:off x="1219200" y="52578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0F7F3"/>
          </a:solidFill>
          <a:ln w="14288">
            <a:solidFill>
              <a:srgbClr val="BFD8C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ource-21 ดูข้อมูลห้องพัก">
            <a:extLst>
              <a:ext uri="{FF2B5EF4-FFF2-40B4-BE49-F238E27FC236}">
                <a16:creationId xmlns:a16="http://schemas.microsoft.com/office/drawing/2014/main" id="{FE479060-1619-4A26-8B9D-C4DAFD8E6489}"/>
              </a:ext>
            </a:extLst>
          </p:cNvPr>
          <p:cNvSpPr>
            <a:spLocks noGrp="1"/>
          </p:cNvSpPr>
          <p:nvPr/>
        </p:nvSpPr>
        <p:spPr>
          <a:xfrm>
            <a:off x="1910760" y="5334000"/>
            <a:ext cx="166494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ดูข้อมูลห้องพัก</a:t>
            </a:r>
          </a:p>
        </p:txBody>
      </p:sp>
      <p:sp>
        <p:nvSpPr>
          <p:cNvPr id="10" name="source-22 ข้อมูลห้องและสถานะห้องพัก">
            <a:extLst>
              <a:ext uri="{FF2B5EF4-FFF2-40B4-BE49-F238E27FC236}">
                <a16:creationId xmlns:a16="http://schemas.microsoft.com/office/drawing/2014/main" id="{F8041D08-7C33-4436-A47D-A45E2CD59585}"/>
              </a:ext>
            </a:extLst>
          </p:cNvPr>
          <p:cNvSpPr>
            <a:spLocks noGrp="1"/>
          </p:cNvSpPr>
          <p:nvPr/>
        </p:nvSpPr>
        <p:spPr>
          <a:xfrm>
            <a:off x="1565318" y="5705475"/>
            <a:ext cx="235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ข้อมูลห้องและสถานะห้องพัก</a:t>
            </a:r>
          </a:p>
        </p:txBody>
      </p:sp>
      <p:sp>
        <p:nvSpPr>
          <p:cNvPr id="11" name="source-23">
            <a:extLst>
              <a:ext uri="{FF2B5EF4-FFF2-40B4-BE49-F238E27FC236}">
                <a16:creationId xmlns:a16="http://schemas.microsoft.com/office/drawing/2014/main" id="{47DFAA51-D22C-4C8B-864A-647FBDA513BB}"/>
              </a:ext>
            </a:extLst>
          </p:cNvPr>
          <p:cNvSpPr>
            <a:spLocks noGrp="1"/>
          </p:cNvSpPr>
          <p:nvPr/>
        </p:nvSpPr>
        <p:spPr>
          <a:xfrm>
            <a:off x="4495800" y="52578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0F7F3"/>
          </a:solidFill>
          <a:ln w="14288">
            <a:solidFill>
              <a:srgbClr val="BFD8C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ource-24 จดมิเตอร์น้ำ / ไฟฟ้า">
            <a:extLst>
              <a:ext uri="{FF2B5EF4-FFF2-40B4-BE49-F238E27FC236}">
                <a16:creationId xmlns:a16="http://schemas.microsoft.com/office/drawing/2014/main" id="{B3FE53EF-0D55-4874-B8DB-AB95E7410C7E}"/>
              </a:ext>
            </a:extLst>
          </p:cNvPr>
          <p:cNvSpPr>
            <a:spLocks noGrp="1"/>
          </p:cNvSpPr>
          <p:nvPr/>
        </p:nvSpPr>
        <p:spPr>
          <a:xfrm>
            <a:off x="4882914" y="5333978"/>
            <a:ext cx="2273796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 dirty="0" err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จดมิเตอร์น้ำ</a:t>
            </a:r>
            <a:r>
              <a:rPr sz="2400" b="1" dirty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 / </a:t>
            </a:r>
            <a:r>
              <a:rPr sz="2400" b="1" dirty="0" err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ไฟฟ้า</a:t>
            </a:r>
            <a:endParaRPr sz="2400" b="1" dirty="0">
              <a:solidFill>
                <a:srgbClr val="18312D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3" name="source-25 บันทึกเลขมิเตอร์รายเดือน">
            <a:extLst>
              <a:ext uri="{FF2B5EF4-FFF2-40B4-BE49-F238E27FC236}">
                <a16:creationId xmlns:a16="http://schemas.microsoft.com/office/drawing/2014/main" id="{D1332305-31BB-4158-9EFE-77EA6D251ED4}"/>
              </a:ext>
            </a:extLst>
          </p:cNvPr>
          <p:cNvSpPr>
            <a:spLocks noGrp="1"/>
          </p:cNvSpPr>
          <p:nvPr/>
        </p:nvSpPr>
        <p:spPr>
          <a:xfrm>
            <a:off x="4939388" y="5705475"/>
            <a:ext cx="216083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บันทึกเลขมิเตอร์รายเดือน</a:t>
            </a:r>
          </a:p>
        </p:txBody>
      </p:sp>
      <p:sp>
        <p:nvSpPr>
          <p:cNvPr id="14" name="source-27">
            <a:extLst>
              <a:ext uri="{FF2B5EF4-FFF2-40B4-BE49-F238E27FC236}">
                <a16:creationId xmlns:a16="http://schemas.microsoft.com/office/drawing/2014/main" id="{2DE42BF8-172D-4069-B021-FFB090916D5A}"/>
              </a:ext>
            </a:extLst>
          </p:cNvPr>
          <p:cNvSpPr>
            <a:spLocks noGrp="1"/>
          </p:cNvSpPr>
          <p:nvPr/>
        </p:nvSpPr>
        <p:spPr>
          <a:xfrm>
            <a:off x="7772400" y="52578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0F7F3"/>
          </a:solidFill>
          <a:ln w="14288">
            <a:solidFill>
              <a:srgbClr val="BFD8C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ource-28 จัดการบิลรายเดือน">
            <a:extLst>
              <a:ext uri="{FF2B5EF4-FFF2-40B4-BE49-F238E27FC236}">
                <a16:creationId xmlns:a16="http://schemas.microsoft.com/office/drawing/2014/main" id="{EB8C3A3B-FEAF-454C-8D31-1FB26F161A4C}"/>
              </a:ext>
            </a:extLst>
          </p:cNvPr>
          <p:cNvSpPr>
            <a:spLocks noGrp="1"/>
          </p:cNvSpPr>
          <p:nvPr/>
        </p:nvSpPr>
        <p:spPr>
          <a:xfrm>
            <a:off x="8245754" y="5334000"/>
            <a:ext cx="2101304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จัดการบิลรายเดือน</a:t>
            </a:r>
          </a:p>
        </p:txBody>
      </p:sp>
      <p:sp>
        <p:nvSpPr>
          <p:cNvPr id="16" name="source-29 คำนวณยอด · สร้าง · อนุมัติบิล">
            <a:extLst>
              <a:ext uri="{FF2B5EF4-FFF2-40B4-BE49-F238E27FC236}">
                <a16:creationId xmlns:a16="http://schemas.microsoft.com/office/drawing/2014/main" id="{FC8AD6B8-AD1B-437E-9ECC-5F6660592F34}"/>
              </a:ext>
            </a:extLst>
          </p:cNvPr>
          <p:cNvSpPr>
            <a:spLocks noGrp="1"/>
          </p:cNvSpPr>
          <p:nvPr/>
        </p:nvSpPr>
        <p:spPr>
          <a:xfrm>
            <a:off x="7930786" y="5705475"/>
            <a:ext cx="2731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คำนวณยอด · สร้าง · อนุมัติบิล</a:t>
            </a:r>
          </a:p>
        </p:txBody>
      </p:sp>
      <p:sp>
        <p:nvSpPr>
          <p:cNvPr id="17" name="source-31">
            <a:extLst>
              <a:ext uri="{FF2B5EF4-FFF2-40B4-BE49-F238E27FC236}">
                <a16:creationId xmlns:a16="http://schemas.microsoft.com/office/drawing/2014/main" id="{765F6C8D-8E14-427C-BAD9-95D27060DBFE}"/>
              </a:ext>
            </a:extLst>
          </p:cNvPr>
          <p:cNvSpPr>
            <a:spLocks noGrp="1"/>
          </p:cNvSpPr>
          <p:nvPr/>
        </p:nvSpPr>
        <p:spPr>
          <a:xfrm>
            <a:off x="7772400" y="65532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0F7F3"/>
          </a:solidFill>
          <a:ln w="14288">
            <a:solidFill>
              <a:srgbClr val="BFD8C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ource-32 ยืนยันรับชำระเงินสด">
            <a:extLst>
              <a:ext uri="{FF2B5EF4-FFF2-40B4-BE49-F238E27FC236}">
                <a16:creationId xmlns:a16="http://schemas.microsoft.com/office/drawing/2014/main" id="{F1A42321-305B-4CEB-B2B7-3F057CEAE91F}"/>
              </a:ext>
            </a:extLst>
          </p:cNvPr>
          <p:cNvSpPr>
            <a:spLocks noGrp="1"/>
          </p:cNvSpPr>
          <p:nvPr/>
        </p:nvSpPr>
        <p:spPr>
          <a:xfrm>
            <a:off x="8179915" y="6629400"/>
            <a:ext cx="2233017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ยืนยันรับชำระเงินสด</a:t>
            </a:r>
          </a:p>
        </p:txBody>
      </p:sp>
      <p:sp>
        <p:nvSpPr>
          <p:cNvPr id="19" name="source-33 บันทึกการรับเงินและปรับสถานะบิล">
            <a:extLst>
              <a:ext uri="{FF2B5EF4-FFF2-40B4-BE49-F238E27FC236}">
                <a16:creationId xmlns:a16="http://schemas.microsoft.com/office/drawing/2014/main" id="{864B8DD9-3DA9-4912-A779-9B11A4F6A624}"/>
              </a:ext>
            </a:extLst>
          </p:cNvPr>
          <p:cNvSpPr>
            <a:spLocks noGrp="1"/>
          </p:cNvSpPr>
          <p:nvPr/>
        </p:nvSpPr>
        <p:spPr>
          <a:xfrm>
            <a:off x="7867843" y="7000875"/>
            <a:ext cx="285705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บันทึกการรับเงินและปรับสถานะบิล</a:t>
            </a:r>
          </a:p>
        </p:txBody>
      </p:sp>
      <p:sp>
        <p:nvSpPr>
          <p:cNvPr id="20" name="source-35">
            <a:extLst>
              <a:ext uri="{FF2B5EF4-FFF2-40B4-BE49-F238E27FC236}">
                <a16:creationId xmlns:a16="http://schemas.microsoft.com/office/drawing/2014/main" id="{CBD05FEE-8F13-4EB2-B2B0-03C1CC7035E6}"/>
              </a:ext>
            </a:extLst>
          </p:cNvPr>
          <p:cNvSpPr>
            <a:spLocks noGrp="1"/>
          </p:cNvSpPr>
          <p:nvPr/>
        </p:nvSpPr>
        <p:spPr>
          <a:xfrm>
            <a:off x="4495800" y="65532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176B5B"/>
          </a:solidFill>
          <a:ln w="9525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ource-36 ออกใบเสร็จรับเงิน">
            <a:extLst>
              <a:ext uri="{FF2B5EF4-FFF2-40B4-BE49-F238E27FC236}">
                <a16:creationId xmlns:a16="http://schemas.microsoft.com/office/drawing/2014/main" id="{1E08C712-F481-4E31-872F-5627BD54E5F2}"/>
              </a:ext>
            </a:extLst>
          </p:cNvPr>
          <p:cNvSpPr>
            <a:spLocks noGrp="1"/>
          </p:cNvSpPr>
          <p:nvPr/>
        </p:nvSpPr>
        <p:spPr>
          <a:xfrm>
            <a:off x="5006900" y="6629400"/>
            <a:ext cx="2025848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ออกใบเสร็จรับเงิน</a:t>
            </a:r>
          </a:p>
        </p:txBody>
      </p:sp>
      <p:sp>
        <p:nvSpPr>
          <p:cNvPr id="22" name="source-37 แสดงและพิมพ์ใบเสร็จ">
            <a:extLst>
              <a:ext uri="{FF2B5EF4-FFF2-40B4-BE49-F238E27FC236}">
                <a16:creationId xmlns:a16="http://schemas.microsoft.com/office/drawing/2014/main" id="{8C108549-AEAC-4BBB-A2FE-2E00308C4454}"/>
              </a:ext>
            </a:extLst>
          </p:cNvPr>
          <p:cNvSpPr>
            <a:spLocks noGrp="1"/>
          </p:cNvSpPr>
          <p:nvPr/>
        </p:nvSpPr>
        <p:spPr>
          <a:xfrm>
            <a:off x="5069199" y="7000875"/>
            <a:ext cx="19011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E2F1E9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E2F1E9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E2F1E9"/>
                </a:solidFill>
                <a:latin typeface="Thonburi"/>
                <a:ea typeface="Thonburi"/>
                <a:cs typeface="Thonburi"/>
              </a:rPr>
              <a:t>แสดงและพิมพ์ใบเสร็จ</a:t>
            </a:r>
          </a:p>
        </p:txBody>
      </p:sp>
      <p:sp>
        <p:nvSpPr>
          <p:cNvPr id="23" name="source-17 Web App · Node.js + Express + EJS">
            <a:extLst>
              <a:ext uri="{FF2B5EF4-FFF2-40B4-BE49-F238E27FC236}">
                <a16:creationId xmlns:a16="http://schemas.microsoft.com/office/drawing/2014/main" id="{FEEE888C-BD72-4DF3-BEC5-BE4D2D5C217C}"/>
              </a:ext>
            </a:extLst>
          </p:cNvPr>
          <p:cNvSpPr>
            <a:spLocks noGrp="1"/>
          </p:cNvSpPr>
          <p:nvPr/>
        </p:nvSpPr>
        <p:spPr>
          <a:xfrm>
            <a:off x="1238250" y="4114800"/>
            <a:ext cx="808221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800" b="1" dirty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Web App · Node.js + Express + EJS</a:t>
            </a:r>
          </a:p>
        </p:txBody>
      </p:sp>
      <p:sp>
        <p:nvSpPr>
          <p:cNvPr id="24" name="source-18 เข้าสู่ระบบ (Login) และตรวจสอบสิทธิ์ผู้ใช้งาน">
            <a:extLst>
              <a:ext uri="{FF2B5EF4-FFF2-40B4-BE49-F238E27FC236}">
                <a16:creationId xmlns:a16="http://schemas.microsoft.com/office/drawing/2014/main" id="{1B3724D0-7AD6-4E70-BC25-DA921867B369}"/>
              </a:ext>
            </a:extLst>
          </p:cNvPr>
          <p:cNvSpPr>
            <a:spLocks noGrp="1"/>
          </p:cNvSpPr>
          <p:nvPr/>
        </p:nvSpPr>
        <p:spPr>
          <a:xfrm>
            <a:off x="1238250" y="4552956"/>
            <a:ext cx="4550271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เข้าสู่ระบบ (Login) และตรวจสอบสิทธิ์ผู้ใช้งาน</a:t>
            </a:r>
          </a:p>
        </p:txBody>
      </p:sp>
      <p:sp>
        <p:nvSpPr>
          <p:cNvPr id="25" name="source-38 สิทธิ์การทำงาน">
            <a:extLst>
              <a:ext uri="{FF2B5EF4-FFF2-40B4-BE49-F238E27FC236}">
                <a16:creationId xmlns:a16="http://schemas.microsoft.com/office/drawing/2014/main" id="{F576FF98-B59C-40A1-AEE8-6FEE834DA0CE}"/>
              </a:ext>
            </a:extLst>
          </p:cNvPr>
          <p:cNvSpPr>
            <a:spLocks noGrp="1"/>
          </p:cNvSpPr>
          <p:nvPr/>
        </p:nvSpPr>
        <p:spPr>
          <a:xfrm>
            <a:off x="1238250" y="6553198"/>
            <a:ext cx="147191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6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สิทธิ์การทำงาน</a:t>
            </a:r>
          </a:p>
        </p:txBody>
      </p:sp>
      <p:sp>
        <p:nvSpPr>
          <p:cNvPr id="26" name="source-39 เจ้าหน้าที่: ดูห้อง / จดมิเตอร์">
            <a:extLst>
              <a:ext uri="{FF2B5EF4-FFF2-40B4-BE49-F238E27FC236}">
                <a16:creationId xmlns:a16="http://schemas.microsoft.com/office/drawing/2014/main" id="{A06E7365-6CFF-4F8A-ADE6-B1ECE82D919A}"/>
              </a:ext>
            </a:extLst>
          </p:cNvPr>
          <p:cNvSpPr>
            <a:spLocks noGrp="1"/>
          </p:cNvSpPr>
          <p:nvPr/>
        </p:nvSpPr>
        <p:spPr>
          <a:xfrm>
            <a:off x="1238250" y="6867499"/>
            <a:ext cx="2322470" cy="271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เจ้าหน้าที่: ดูห้อง / จดมิเตอร์</a:t>
            </a:r>
          </a:p>
        </p:txBody>
      </p:sp>
      <p:sp>
        <p:nvSpPr>
          <p:cNvPr id="27" name="source-40 ผู้ดูแลระบบ: ใช้งานได้ทุกส่วน">
            <a:extLst>
              <a:ext uri="{FF2B5EF4-FFF2-40B4-BE49-F238E27FC236}">
                <a16:creationId xmlns:a16="http://schemas.microsoft.com/office/drawing/2014/main" id="{5D8E357E-9406-4D18-B187-D707D1F32012}"/>
              </a:ext>
            </a:extLst>
          </p:cNvPr>
          <p:cNvSpPr>
            <a:spLocks noGrp="1"/>
          </p:cNvSpPr>
          <p:nvPr/>
        </p:nvSpPr>
        <p:spPr>
          <a:xfrm>
            <a:off x="1238250" y="7143750"/>
            <a:ext cx="2361158" cy="271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425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ผู้ดูแลระบบ: ใช้งานได้ทุกส่วน</a:t>
            </a:r>
          </a:p>
        </p:txBody>
      </p:sp>
      <p:sp>
        <p:nvSpPr>
          <p:cNvPr id="28" name="source-43">
            <a:extLst>
              <a:ext uri="{FF2B5EF4-FFF2-40B4-BE49-F238E27FC236}">
                <a16:creationId xmlns:a16="http://schemas.microsoft.com/office/drawing/2014/main" id="{B60A2846-B15B-4CDF-BB9B-81000704C005}"/>
              </a:ext>
            </a:extLst>
          </p:cNvPr>
          <p:cNvSpPr>
            <a:spLocks noGrp="1"/>
          </p:cNvSpPr>
          <p:nvPr/>
        </p:nvSpPr>
        <p:spPr>
          <a:xfrm>
            <a:off x="3333750" y="8420100"/>
            <a:ext cx="5986712" cy="838200"/>
          </a:xfrm>
          <a:prstGeom prst="roundRect">
            <a:avLst>
              <a:gd name="adj" fmla="val 15909"/>
            </a:avLst>
          </a:prstGeom>
          <a:solidFill>
            <a:srgbClr val="E0EEE5"/>
          </a:solidFill>
          <a:ln w="19050">
            <a:solidFill>
              <a:srgbClr val="76A1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ource-44 PostgreSQL Database · Supabase">
            <a:extLst>
              <a:ext uri="{FF2B5EF4-FFF2-40B4-BE49-F238E27FC236}">
                <a16:creationId xmlns:a16="http://schemas.microsoft.com/office/drawing/2014/main" id="{70CE40D5-D61D-41F9-ADEE-8055FD58F7C6}"/>
              </a:ext>
            </a:extLst>
          </p:cNvPr>
          <p:cNvSpPr>
            <a:spLocks noGrp="1"/>
          </p:cNvSpPr>
          <p:nvPr/>
        </p:nvSpPr>
        <p:spPr>
          <a:xfrm>
            <a:off x="3886521" y="8496300"/>
            <a:ext cx="426660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PostgreSQL Database · Supabase</a:t>
            </a:r>
          </a:p>
        </p:txBody>
      </p:sp>
      <p:sp>
        <p:nvSpPr>
          <p:cNvPr id="30" name="source-45 ห้องพัก · มิเตอร์ · บิล · การรับเงิน · ใบเสร็จ">
            <a:extLst>
              <a:ext uri="{FF2B5EF4-FFF2-40B4-BE49-F238E27FC236}">
                <a16:creationId xmlns:a16="http://schemas.microsoft.com/office/drawing/2014/main" id="{420F2C52-B065-40E4-A936-0B8D3C886F68}"/>
              </a:ext>
            </a:extLst>
          </p:cNvPr>
          <p:cNvSpPr>
            <a:spLocks noGrp="1"/>
          </p:cNvSpPr>
          <p:nvPr/>
        </p:nvSpPr>
        <p:spPr>
          <a:xfrm>
            <a:off x="4077182" y="8858250"/>
            <a:ext cx="388530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16B63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16B63"/>
                </a:solidFill>
                <a:latin typeface="Thonburi"/>
                <a:ea typeface="Thonburi"/>
                <a:cs typeface="Thonburi"/>
              </a:rPr>
              <a:t>ห้องพัก · มิเตอร์ · บิล · การรับเงิน · ใบเสร็จ</a:t>
            </a:r>
          </a:p>
        </p:txBody>
      </p:sp>
      <p:sp>
        <p:nvSpPr>
          <p:cNvPr id="31" name="source-9 ขอบเขตภาคเรียนนี้">
            <a:extLst>
              <a:ext uri="{FF2B5EF4-FFF2-40B4-BE49-F238E27FC236}">
                <a16:creationId xmlns:a16="http://schemas.microsoft.com/office/drawing/2014/main" id="{8F03ADC5-108B-4DB5-9AA8-6E2215B115C3}"/>
              </a:ext>
            </a:extLst>
          </p:cNvPr>
          <p:cNvSpPr>
            <a:spLocks noGrp="1"/>
          </p:cNvSpPr>
          <p:nvPr/>
        </p:nvSpPr>
        <p:spPr>
          <a:xfrm>
            <a:off x="914400" y="2057376"/>
            <a:ext cx="380181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400" b="1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sz="2800" b="1" dirty="0" err="1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ขอบเขตภาคเรียนนี้</a:t>
            </a:r>
            <a:endParaRPr sz="2800" b="1" dirty="0">
              <a:solidFill>
                <a:srgbClr val="18312D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2" name="source-12 เน้นการทำงานภายในสำนักงาน ตั้งแต่เข้าสู่ระบบจนถึงออกใบเสร็จ">
            <a:extLst>
              <a:ext uri="{FF2B5EF4-FFF2-40B4-BE49-F238E27FC236}">
                <a16:creationId xmlns:a16="http://schemas.microsoft.com/office/drawing/2014/main" id="{23289A70-5A32-409A-AD68-313E5197D949}"/>
              </a:ext>
            </a:extLst>
          </p:cNvPr>
          <p:cNvSpPr>
            <a:spLocks noGrp="1"/>
          </p:cNvSpPr>
          <p:nvPr/>
        </p:nvSpPr>
        <p:spPr>
          <a:xfrm>
            <a:off x="933450" y="2524125"/>
            <a:ext cx="52847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เน้นการทำงานภายในสำนักงาน ตั้งแต่เข้าสู่ระบบจนถึงออกใบเสร็จ</a:t>
            </a:r>
          </a:p>
        </p:txBody>
      </p:sp>
      <p:sp>
        <p:nvSpPr>
          <p:cNvPr id="33" name="source-42 อ่าน / บันทึกข้อมูลทุกโมดูล">
            <a:extLst>
              <a:ext uri="{FF2B5EF4-FFF2-40B4-BE49-F238E27FC236}">
                <a16:creationId xmlns:a16="http://schemas.microsoft.com/office/drawing/2014/main" id="{F76DBD51-C113-45DA-9F25-401154BEF145}"/>
              </a:ext>
            </a:extLst>
          </p:cNvPr>
          <p:cNvSpPr>
            <a:spLocks noGrp="1"/>
          </p:cNvSpPr>
          <p:nvPr/>
        </p:nvSpPr>
        <p:spPr>
          <a:xfrm>
            <a:off x="6172200" y="7962900"/>
            <a:ext cx="23541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อ่าน / บันทึกข้อมูลทุกโมดูล</a:t>
            </a:r>
          </a:p>
        </p:txBody>
      </p:sp>
      <p:sp>
        <p:nvSpPr>
          <p:cNvPr id="34" name="source-46">
            <a:extLst>
              <a:ext uri="{FF2B5EF4-FFF2-40B4-BE49-F238E27FC236}">
                <a16:creationId xmlns:a16="http://schemas.microsoft.com/office/drawing/2014/main" id="{36CB6D34-C7D4-4CA9-87E5-75276557E87A}"/>
              </a:ext>
            </a:extLst>
          </p:cNvPr>
          <p:cNvSpPr>
            <a:spLocks noGrp="1"/>
          </p:cNvSpPr>
          <p:nvPr/>
        </p:nvSpPr>
        <p:spPr>
          <a:xfrm>
            <a:off x="11734800" y="1885950"/>
            <a:ext cx="5943600" cy="7753350"/>
          </a:xfrm>
          <a:prstGeom prst="roundRect">
            <a:avLst>
              <a:gd name="adj" fmla="val 3846"/>
            </a:avLst>
          </a:prstGeom>
          <a:solidFill>
            <a:srgbClr val="FCFAF5"/>
          </a:solidFill>
          <a:ln w="23813">
            <a:solidFill>
              <a:srgbClr val="C7A874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35" name="source-49">
            <a:extLst>
              <a:ext uri="{FF2B5EF4-FFF2-40B4-BE49-F238E27FC236}">
                <a16:creationId xmlns:a16="http://schemas.microsoft.com/office/drawing/2014/main" id="{BCEBDDD5-44EC-4FD4-AE6A-1E55E060F417}"/>
              </a:ext>
            </a:extLst>
          </p:cNvPr>
          <p:cNvSpPr>
            <a:spLocks noGrp="1"/>
          </p:cNvSpPr>
          <p:nvPr/>
        </p:nvSpPr>
        <p:spPr>
          <a:xfrm>
            <a:off x="12325350" y="3114675"/>
            <a:ext cx="4762500" cy="466725"/>
          </a:xfrm>
          <a:prstGeom prst="roundRect">
            <a:avLst>
              <a:gd name="adj" fmla="val 48980"/>
            </a:avLst>
          </a:prstGeom>
          <a:solidFill>
            <a:srgbClr val="F1E8D5"/>
          </a:solidFill>
          <a:ln w="9525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ource-50 ส่วนขยายหลังขอบเขตภาคเรียนนี้">
            <a:extLst>
              <a:ext uri="{FF2B5EF4-FFF2-40B4-BE49-F238E27FC236}">
                <a16:creationId xmlns:a16="http://schemas.microsoft.com/office/drawing/2014/main" id="{94D3C879-90CC-419A-B127-7BA3DA7B575B}"/>
              </a:ext>
            </a:extLst>
          </p:cNvPr>
          <p:cNvSpPr>
            <a:spLocks noGrp="1"/>
          </p:cNvSpPr>
          <p:nvPr/>
        </p:nvSpPr>
        <p:spPr>
          <a:xfrm>
            <a:off x="13228841" y="3162289"/>
            <a:ext cx="317146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725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ส่วนขยายหลังขอบเขตภาคเรียนนี้</a:t>
            </a:r>
          </a:p>
        </p:txBody>
      </p:sp>
      <p:sp>
        <p:nvSpPr>
          <p:cNvPr id="37" name="source-52">
            <a:extLst>
              <a:ext uri="{FF2B5EF4-FFF2-40B4-BE49-F238E27FC236}">
                <a16:creationId xmlns:a16="http://schemas.microsoft.com/office/drawing/2014/main" id="{D4BC8535-C739-4509-ADE7-26969F0E4AC6}"/>
              </a:ext>
            </a:extLst>
          </p:cNvPr>
          <p:cNvSpPr>
            <a:spLocks noGrp="1"/>
          </p:cNvSpPr>
          <p:nvPr/>
        </p:nvSpPr>
        <p:spPr>
          <a:xfrm>
            <a:off x="12325350" y="4000500"/>
            <a:ext cx="47625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7A874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38" name="source-53 บริการส่งข้อความแจ้งเตือน">
            <a:extLst>
              <a:ext uri="{FF2B5EF4-FFF2-40B4-BE49-F238E27FC236}">
                <a16:creationId xmlns:a16="http://schemas.microsoft.com/office/drawing/2014/main" id="{BD483F36-10DE-4C3D-8C2B-9B7C9D24DC1E}"/>
              </a:ext>
            </a:extLst>
          </p:cNvPr>
          <p:cNvSpPr>
            <a:spLocks noGrp="1"/>
          </p:cNvSpPr>
          <p:nvPr/>
        </p:nvSpPr>
        <p:spPr>
          <a:xfrm>
            <a:off x="13164294" y="4114800"/>
            <a:ext cx="2902744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2400" b="1" dirty="0" err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บริการส่งข้อความแจ้งเตือน</a:t>
            </a:r>
            <a:endParaRPr sz="2400" b="1" dirty="0">
              <a:solidFill>
                <a:srgbClr val="80581F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9" name="source-54 ส่งบิล · เตือนชำระ / ค้างชำระ · ประกาศ">
            <a:extLst>
              <a:ext uri="{FF2B5EF4-FFF2-40B4-BE49-F238E27FC236}">
                <a16:creationId xmlns:a16="http://schemas.microsoft.com/office/drawing/2014/main" id="{3C2B47D9-126F-402D-838F-1BE3ECFDE672}"/>
              </a:ext>
            </a:extLst>
          </p:cNvPr>
          <p:cNvSpPr>
            <a:spLocks noGrp="1"/>
          </p:cNvSpPr>
          <p:nvPr/>
        </p:nvSpPr>
        <p:spPr>
          <a:xfrm>
            <a:off x="13061670" y="4514850"/>
            <a:ext cx="348034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600" b="0" dirty="0" err="1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ส่งบิล</a:t>
            </a:r>
            <a:r>
              <a:rPr sz="1600" b="0" dirty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 · </a:t>
            </a:r>
            <a:r>
              <a:rPr sz="1600" b="0" dirty="0" err="1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เตือนชำระ</a:t>
            </a:r>
            <a:r>
              <a:rPr sz="1600" b="0" dirty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 / </a:t>
            </a:r>
            <a:r>
              <a:rPr sz="1600" b="0" dirty="0" err="1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ค้างชำระ</a:t>
            </a:r>
            <a:r>
              <a:rPr sz="1600" b="0" dirty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 · </a:t>
            </a:r>
            <a:r>
              <a:rPr sz="1600" b="0" dirty="0" err="1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ประกาศ</a:t>
            </a:r>
            <a:endParaRPr sz="1600" b="0" dirty="0">
              <a:solidFill>
                <a:srgbClr val="846D4A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0" name="source-56">
            <a:extLst>
              <a:ext uri="{FF2B5EF4-FFF2-40B4-BE49-F238E27FC236}">
                <a16:creationId xmlns:a16="http://schemas.microsoft.com/office/drawing/2014/main" id="{6B610948-C3C7-414F-8C3D-D746525BDAD4}"/>
              </a:ext>
            </a:extLst>
          </p:cNvPr>
          <p:cNvSpPr>
            <a:spLocks noGrp="1"/>
          </p:cNvSpPr>
          <p:nvPr/>
        </p:nvSpPr>
        <p:spPr>
          <a:xfrm>
            <a:off x="12325350" y="5524500"/>
            <a:ext cx="47625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7A874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41" name="source-57 LINE Messaging API">
            <a:extLst>
              <a:ext uri="{FF2B5EF4-FFF2-40B4-BE49-F238E27FC236}">
                <a16:creationId xmlns:a16="http://schemas.microsoft.com/office/drawing/2014/main" id="{092EF456-689F-4FF8-89DB-76EE6477232E}"/>
              </a:ext>
            </a:extLst>
          </p:cNvPr>
          <p:cNvSpPr>
            <a:spLocks noGrp="1"/>
          </p:cNvSpPr>
          <p:nvPr/>
        </p:nvSpPr>
        <p:spPr>
          <a:xfrm>
            <a:off x="13550664" y="5638800"/>
            <a:ext cx="2502396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LINE Messaging API</a:t>
            </a:r>
          </a:p>
        </p:txBody>
      </p:sp>
      <p:sp>
        <p:nvSpPr>
          <p:cNvPr id="42" name="source-58 เชื่อมต่อกับ LINE Official Account">
            <a:extLst>
              <a:ext uri="{FF2B5EF4-FFF2-40B4-BE49-F238E27FC236}">
                <a16:creationId xmlns:a16="http://schemas.microsoft.com/office/drawing/2014/main" id="{04269680-5C96-4CDD-BACB-A14C3F980002}"/>
              </a:ext>
            </a:extLst>
          </p:cNvPr>
          <p:cNvSpPr>
            <a:spLocks noGrp="1"/>
          </p:cNvSpPr>
          <p:nvPr/>
        </p:nvSpPr>
        <p:spPr>
          <a:xfrm>
            <a:off x="13277657" y="6038850"/>
            <a:ext cx="304844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เชื่อมต่อกับ LINE Official Account</a:t>
            </a:r>
          </a:p>
        </p:txBody>
      </p:sp>
      <p:sp>
        <p:nvSpPr>
          <p:cNvPr id="43" name="source-60">
            <a:extLst>
              <a:ext uri="{FF2B5EF4-FFF2-40B4-BE49-F238E27FC236}">
                <a16:creationId xmlns:a16="http://schemas.microsoft.com/office/drawing/2014/main" id="{94CC67BB-9940-4772-92E7-87E7F91CAEEA}"/>
              </a:ext>
            </a:extLst>
          </p:cNvPr>
          <p:cNvSpPr>
            <a:spLocks noGrp="1"/>
          </p:cNvSpPr>
          <p:nvPr/>
        </p:nvSpPr>
        <p:spPr>
          <a:xfrm>
            <a:off x="12325350" y="7048500"/>
            <a:ext cx="47625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7A874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44" name="source-61 ผู้พักอาศัยผ่าน LINE OA">
            <a:extLst>
              <a:ext uri="{FF2B5EF4-FFF2-40B4-BE49-F238E27FC236}">
                <a16:creationId xmlns:a16="http://schemas.microsoft.com/office/drawing/2014/main" id="{44261829-2438-45FB-95E3-5371BF384493}"/>
              </a:ext>
            </a:extLst>
          </p:cNvPr>
          <p:cNvSpPr>
            <a:spLocks noGrp="1"/>
          </p:cNvSpPr>
          <p:nvPr/>
        </p:nvSpPr>
        <p:spPr>
          <a:xfrm>
            <a:off x="13447272" y="7162800"/>
            <a:ext cx="2711209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95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240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ผู้พักอาศัยผ่าน LINE OA</a:t>
            </a:r>
          </a:p>
        </p:txBody>
      </p:sp>
      <p:sp>
        <p:nvSpPr>
          <p:cNvPr id="45" name="source-62 รับบิลและข้อความแจ้งเตือน">
            <a:extLst>
              <a:ext uri="{FF2B5EF4-FFF2-40B4-BE49-F238E27FC236}">
                <a16:creationId xmlns:a16="http://schemas.microsoft.com/office/drawing/2014/main" id="{B46B2F0B-C142-4B5D-BBA3-7A379579E890}"/>
              </a:ext>
            </a:extLst>
          </p:cNvPr>
          <p:cNvSpPr>
            <a:spLocks noGrp="1"/>
          </p:cNvSpPr>
          <p:nvPr/>
        </p:nvSpPr>
        <p:spPr>
          <a:xfrm>
            <a:off x="13646751" y="7562850"/>
            <a:ext cx="231025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รับบิลและข้อความแจ้งเตือน</a:t>
            </a:r>
          </a:p>
        </p:txBody>
      </p:sp>
      <p:sp>
        <p:nvSpPr>
          <p:cNvPr id="46" name="source-47 แนวทางพัฒนาต่อไป">
            <a:extLst>
              <a:ext uri="{FF2B5EF4-FFF2-40B4-BE49-F238E27FC236}">
                <a16:creationId xmlns:a16="http://schemas.microsoft.com/office/drawing/2014/main" id="{E55D5995-DCA8-4022-9E06-D822AC515865}"/>
              </a:ext>
            </a:extLst>
          </p:cNvPr>
          <p:cNvSpPr>
            <a:spLocks noGrp="1"/>
          </p:cNvSpPr>
          <p:nvPr/>
        </p:nvSpPr>
        <p:spPr>
          <a:xfrm>
            <a:off x="12039599" y="2057400"/>
            <a:ext cx="38004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4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2800" b="1" dirty="0" err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แนวทางพัฒนาต่อไป</a:t>
            </a:r>
            <a:endParaRPr sz="2800" b="1" dirty="0">
              <a:solidFill>
                <a:srgbClr val="80581F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7" name="source-48 เชื่อมการแจ้งเตือนถึงผู้พักอาศัยผ่าน LINE">
            <a:extLst>
              <a:ext uri="{FF2B5EF4-FFF2-40B4-BE49-F238E27FC236}">
                <a16:creationId xmlns:a16="http://schemas.microsoft.com/office/drawing/2014/main" id="{BC4179D4-D316-4752-A784-19A37705F3B4}"/>
              </a:ext>
            </a:extLst>
          </p:cNvPr>
          <p:cNvSpPr>
            <a:spLocks noGrp="1"/>
          </p:cNvSpPr>
          <p:nvPr/>
        </p:nvSpPr>
        <p:spPr>
          <a:xfrm>
            <a:off x="12058650" y="2524125"/>
            <a:ext cx="3400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เชื่อมการแจ้งเตือนถึงผู้พักอาศัยผ่าน LINE</a:t>
            </a:r>
          </a:p>
        </p:txBody>
      </p:sp>
      <p:sp>
        <p:nvSpPr>
          <p:cNvPr id="48" name="source-64 มีส่วนรับ Webhook และผูกบัญชีเตรียมไว้แล้ว">
            <a:extLst>
              <a:ext uri="{FF2B5EF4-FFF2-40B4-BE49-F238E27FC236}">
                <a16:creationId xmlns:a16="http://schemas.microsoft.com/office/drawing/2014/main" id="{01ED005C-62AD-4B59-A11F-ECFC0970C77A}"/>
              </a:ext>
            </a:extLst>
          </p:cNvPr>
          <p:cNvSpPr>
            <a:spLocks noGrp="1"/>
          </p:cNvSpPr>
          <p:nvPr/>
        </p:nvSpPr>
        <p:spPr>
          <a:xfrm>
            <a:off x="12325350" y="8467725"/>
            <a:ext cx="376326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1">
                <a:solidFill>
                  <a:srgbClr val="80581F"/>
                </a:solidFill>
                <a:latin typeface="Thonburi"/>
                <a:ea typeface="Thonburi"/>
                <a:cs typeface="Thonburi"/>
              </a:defRPr>
            </a:pPr>
            <a:r>
              <a:rPr sz="1600" b="1">
                <a:solidFill>
                  <a:srgbClr val="80581F"/>
                </a:solidFill>
                <a:latin typeface="Thonburi"/>
                <a:ea typeface="Thonburi"/>
                <a:cs typeface="Thonburi"/>
              </a:rPr>
              <a:t>มีส่วนรับ Webhook และผูกบัญชีเตรียมไว้แล้ว</a:t>
            </a:r>
          </a:p>
        </p:txBody>
      </p:sp>
      <p:sp>
        <p:nvSpPr>
          <p:cNvPr id="49" name="source-65 ขั้นต่อไปคือเชื่อม API เพื่อส่งข้อความจริง">
            <a:extLst>
              <a:ext uri="{FF2B5EF4-FFF2-40B4-BE49-F238E27FC236}">
                <a16:creationId xmlns:a16="http://schemas.microsoft.com/office/drawing/2014/main" id="{26BC7023-613F-485D-A688-0D298EF53552}"/>
              </a:ext>
            </a:extLst>
          </p:cNvPr>
          <p:cNvSpPr>
            <a:spLocks noGrp="1"/>
          </p:cNvSpPr>
          <p:nvPr/>
        </p:nvSpPr>
        <p:spPr>
          <a:xfrm>
            <a:off x="12325350" y="8782047"/>
            <a:ext cx="334863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846D4A"/>
                </a:solidFill>
                <a:latin typeface="Thonburi"/>
                <a:ea typeface="Thonburi"/>
                <a:cs typeface="Thonburi"/>
              </a:defRPr>
            </a:pPr>
            <a:r>
              <a:rPr sz="1600" b="0">
                <a:solidFill>
                  <a:srgbClr val="846D4A"/>
                </a:solidFill>
                <a:latin typeface="Thonburi"/>
                <a:ea typeface="Thonburi"/>
                <a:cs typeface="Thonburi"/>
              </a:rPr>
              <a:t>ขั้นต่อไปคือเชื่อม API เพื่อส่งข้อความจริง</a:t>
            </a:r>
          </a:p>
        </p:txBody>
      </p:sp>
      <p:sp>
        <p:nvSpPr>
          <p:cNvPr id="50" name="source-2 Block Diagram">
            <a:extLst>
              <a:ext uri="{FF2B5EF4-FFF2-40B4-BE49-F238E27FC236}">
                <a16:creationId xmlns:a16="http://schemas.microsoft.com/office/drawing/2014/main" id="{6294544C-47E1-4D67-BBB8-26994A3CED94}"/>
              </a:ext>
            </a:extLst>
          </p:cNvPr>
          <p:cNvSpPr>
            <a:spLocks noGrp="1"/>
          </p:cNvSpPr>
          <p:nvPr/>
        </p:nvSpPr>
        <p:spPr>
          <a:xfrm>
            <a:off x="914400" y="438150"/>
            <a:ext cx="3801814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4200" b="1">
                <a:solidFill>
                  <a:srgbClr val="1831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200" b="1">
                <a:solidFill>
                  <a:srgbClr val="18312D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18312D"/>
                </a:solidFill>
                <a:latin typeface="Arial"/>
                <a:ea typeface="Arial"/>
                <a:cs typeface="Arial"/>
              </a:rPr>
              <a:t>Block Diagram</a:t>
            </a:r>
          </a:p>
        </p:txBody>
      </p:sp>
      <p:sp>
        <p:nvSpPr>
          <p:cNvPr id="51" name="source-3 ระบบจัดการห้องพักและค่าสาธารณูปโภค">
            <a:extLst>
              <a:ext uri="{FF2B5EF4-FFF2-40B4-BE49-F238E27FC236}">
                <a16:creationId xmlns:a16="http://schemas.microsoft.com/office/drawing/2014/main" id="{760E1A16-7CBC-4222-AE1F-C6877C1665AE}"/>
              </a:ext>
            </a:extLst>
          </p:cNvPr>
          <p:cNvSpPr>
            <a:spLocks noGrp="1"/>
          </p:cNvSpPr>
          <p:nvPr/>
        </p:nvSpPr>
        <p:spPr>
          <a:xfrm>
            <a:off x="933450" y="1162050"/>
            <a:ext cx="398189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800" b="0">
                <a:solidFill>
                  <a:srgbClr val="18312D"/>
                </a:solidFill>
                <a:latin typeface="Thonburi"/>
                <a:ea typeface="Thonburi"/>
                <a:cs typeface="Thonburi"/>
              </a:defRPr>
            </a:pPr>
            <a:r>
              <a:rPr b="0">
                <a:solidFill>
                  <a:srgbClr val="18312D"/>
                </a:solidFill>
                <a:latin typeface="Thonburi"/>
                <a:ea typeface="Thonburi"/>
                <a:cs typeface="Thonburi"/>
              </a:rPr>
              <a:t>ระบบจัดการห้องพักและค่าสาธารณูปโภค</a:t>
            </a:r>
          </a:p>
        </p:txBody>
      </p:sp>
      <p:sp>
        <p:nvSpPr>
          <p:cNvPr id="52" name="source-5 พัฒนาแล้ว">
            <a:extLst>
              <a:ext uri="{FF2B5EF4-FFF2-40B4-BE49-F238E27FC236}">
                <a16:creationId xmlns:a16="http://schemas.microsoft.com/office/drawing/2014/main" id="{B2D0E00F-A2A9-49F4-A7F9-25A3C9214FEE}"/>
              </a:ext>
            </a:extLst>
          </p:cNvPr>
          <p:cNvSpPr>
            <a:spLocks noGrp="1"/>
          </p:cNvSpPr>
          <p:nvPr/>
        </p:nvSpPr>
        <p:spPr>
          <a:xfrm>
            <a:off x="13601700" y="1038225"/>
            <a:ext cx="101396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600" b="0" dirty="0" err="1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พัฒนาแล้ว</a:t>
            </a:r>
            <a:endParaRPr sz="1600" b="0" dirty="0">
              <a:solidFill>
                <a:srgbClr val="5B706B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53" name="source-7 พัฒนาต่อไป">
            <a:extLst>
              <a:ext uri="{FF2B5EF4-FFF2-40B4-BE49-F238E27FC236}">
                <a16:creationId xmlns:a16="http://schemas.microsoft.com/office/drawing/2014/main" id="{B5EC690B-0C4E-4847-A49E-E47C817E99EF}"/>
              </a:ext>
            </a:extLst>
          </p:cNvPr>
          <p:cNvSpPr>
            <a:spLocks noGrp="1"/>
          </p:cNvSpPr>
          <p:nvPr/>
        </p:nvSpPr>
        <p:spPr>
          <a:xfrm>
            <a:off x="15840075" y="1038225"/>
            <a:ext cx="11296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500" b="0">
                <a:solidFill>
                  <a:srgbClr val="5B706B"/>
                </a:solidFill>
                <a:latin typeface="Thonburi"/>
                <a:ea typeface="Thonburi"/>
                <a:cs typeface="Thonburi"/>
              </a:defRPr>
            </a:pPr>
            <a:r>
              <a:rPr sz="1600" b="0" dirty="0" err="1">
                <a:solidFill>
                  <a:srgbClr val="5B706B"/>
                </a:solidFill>
                <a:latin typeface="Thonburi"/>
                <a:ea typeface="Thonburi"/>
                <a:cs typeface="Thonburi"/>
              </a:rPr>
              <a:t>พัฒนาต่อไป</a:t>
            </a:r>
            <a:endParaRPr sz="1600" b="0" dirty="0">
              <a:solidFill>
                <a:srgbClr val="5B706B"/>
              </a:solidFill>
              <a:latin typeface="Thonburi"/>
              <a:ea typeface="Thonburi"/>
              <a:cs typeface="Thonburi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602F33-1F4E-4FBB-972C-F2987D54C996}"/>
              </a:ext>
            </a:extLst>
          </p:cNvPr>
          <p:cNvCxnSpPr/>
          <p:nvPr/>
        </p:nvCxnSpPr>
        <p:spPr>
          <a:xfrm>
            <a:off x="7400925" y="5695950"/>
            <a:ext cx="314325" cy="0"/>
          </a:xfrm>
          <a:prstGeom prst="straightConnector1">
            <a:avLst/>
          </a:prstGeom>
          <a:ln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E1C1769-4138-4629-951F-AC8C8EDDE91D}"/>
              </a:ext>
            </a:extLst>
          </p:cNvPr>
          <p:cNvCxnSpPr/>
          <p:nvPr/>
        </p:nvCxnSpPr>
        <p:spPr>
          <a:xfrm>
            <a:off x="9201150" y="6181725"/>
            <a:ext cx="0" cy="323850"/>
          </a:xfrm>
          <a:prstGeom prst="straightConnector1">
            <a:avLst/>
          </a:prstGeom>
          <a:ln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E75AD15-9663-4721-B64D-413AE4D9B488}"/>
              </a:ext>
            </a:extLst>
          </p:cNvPr>
          <p:cNvCxnSpPr/>
          <p:nvPr/>
        </p:nvCxnSpPr>
        <p:spPr>
          <a:xfrm flipH="1">
            <a:off x="7410450" y="6991350"/>
            <a:ext cx="314325" cy="0"/>
          </a:xfrm>
          <a:prstGeom prst="straightConnector1">
            <a:avLst/>
          </a:prstGeom>
          <a:ln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449292-EB72-437F-8C49-D10A840C4485}"/>
              </a:ext>
            </a:extLst>
          </p:cNvPr>
          <p:cNvCxnSpPr/>
          <p:nvPr/>
        </p:nvCxnSpPr>
        <p:spPr>
          <a:xfrm>
            <a:off x="5924550" y="3676650"/>
            <a:ext cx="0" cy="323850"/>
          </a:xfrm>
          <a:prstGeom prst="straightConnector1">
            <a:avLst/>
          </a:prstGeom>
          <a:ln w="28575">
            <a:solidFill>
              <a:srgbClr val="176B5B"/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89613FE-10BE-43D3-AA27-DDE4EAD94A87}"/>
              </a:ext>
            </a:extLst>
          </p:cNvPr>
          <p:cNvCxnSpPr/>
          <p:nvPr/>
        </p:nvCxnSpPr>
        <p:spPr>
          <a:xfrm>
            <a:off x="5924550" y="7867650"/>
            <a:ext cx="0" cy="485775"/>
          </a:xfrm>
          <a:prstGeom prst="straightConnector1">
            <a:avLst/>
          </a:prstGeom>
          <a:ln w="28575">
            <a:solidFill>
              <a:srgbClr val="176B5B"/>
            </a:solidFill>
            <a:prstDash val="solid"/>
            <a:headEnd type="arrow" w="lg" len="lg"/>
            <a:tailEnd type="arrow" w="lg" len="lg"/>
          </a:ln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55F82DB-F761-47F7-BDF1-DF02295768E6}"/>
              </a:ext>
            </a:extLst>
          </p:cNvPr>
          <p:cNvCxnSpPr/>
          <p:nvPr/>
        </p:nvCxnSpPr>
        <p:spPr>
          <a:xfrm>
            <a:off x="14706600" y="5010150"/>
            <a:ext cx="0" cy="447675"/>
          </a:xfrm>
          <a:prstGeom prst="straightConnector1">
            <a:avLst/>
          </a:prstGeom>
          <a:ln w="28575">
            <a:solidFill>
              <a:srgbClr val="9A6A24"/>
            </a:solidFill>
            <a:prstDash val="dash"/>
            <a:headEnd type="none" w="lg" len="lg"/>
            <a:tailEnd type="arrow" w="lg" len="lg"/>
          </a:ln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BD587D-E360-41F7-824C-9E999B96F1D5}"/>
              </a:ext>
            </a:extLst>
          </p:cNvPr>
          <p:cNvCxnSpPr/>
          <p:nvPr/>
        </p:nvCxnSpPr>
        <p:spPr>
          <a:xfrm>
            <a:off x="14706600" y="6534150"/>
            <a:ext cx="0" cy="447675"/>
          </a:xfrm>
          <a:prstGeom prst="straightConnector1">
            <a:avLst/>
          </a:prstGeom>
          <a:ln w="28575">
            <a:solidFill>
              <a:srgbClr val="9A6A24"/>
            </a:solidFill>
            <a:prstDash val="dash"/>
            <a:headEnd type="none" w="lg" len="lg"/>
            <a:tailEnd type="arrow" w="lg" len="lg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BCB37BE-8540-46CF-B9EF-CB81D4418D55}"/>
              </a:ext>
            </a:extLst>
          </p:cNvPr>
          <p:cNvCxnSpPr/>
          <p:nvPr/>
        </p:nvCxnSpPr>
        <p:spPr>
          <a:xfrm>
            <a:off x="12954000" y="1190625"/>
            <a:ext cx="495300" cy="0"/>
          </a:xfrm>
          <a:prstGeom prst="straightConnector1">
            <a:avLst/>
          </a:prstGeom>
          <a:ln w="38100">
            <a:solidFill>
              <a:srgbClr val="176B5B"/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B114A83-6EB9-4EB5-B6CF-8708ECA85806}"/>
              </a:ext>
            </a:extLst>
          </p:cNvPr>
          <p:cNvCxnSpPr/>
          <p:nvPr/>
        </p:nvCxnSpPr>
        <p:spPr>
          <a:xfrm>
            <a:off x="15192375" y="1190625"/>
            <a:ext cx="495300" cy="0"/>
          </a:xfrm>
          <a:prstGeom prst="straightConnector1">
            <a:avLst/>
          </a:prstGeom>
          <a:ln w="28575">
            <a:solidFill>
              <a:srgbClr val="9A6A24"/>
            </a:solidFill>
            <a:prstDash val="dash"/>
            <a:headEnd type="none" w="lg" len="lg"/>
            <a:tailEnd type="none" w="lg" len="lg"/>
          </a:ln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D8127-1E3C-4C2C-9C14-C7AA2EB7DFFE}"/>
              </a:ext>
            </a:extLst>
          </p:cNvPr>
          <p:cNvCxnSpPr/>
          <p:nvPr/>
        </p:nvCxnSpPr>
        <p:spPr>
          <a:xfrm>
            <a:off x="1219200" y="5029200"/>
            <a:ext cx="9410700" cy="0"/>
          </a:xfrm>
          <a:prstGeom prst="straightConnector1">
            <a:avLst/>
          </a:prstGeom>
          <a:ln w="19050">
            <a:solidFill>
              <a:srgbClr val="DCE9E1"/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29B0D03-592E-4564-AAC3-451A0F28B458}"/>
              </a:ext>
            </a:extLst>
          </p:cNvPr>
          <p:cNvCxnSpPr/>
          <p:nvPr/>
        </p:nvCxnSpPr>
        <p:spPr>
          <a:xfrm>
            <a:off x="12325350" y="8362950"/>
            <a:ext cx="4762500" cy="0"/>
          </a:xfrm>
          <a:prstGeom prst="straightConnector1">
            <a:avLst/>
          </a:prstGeom>
          <a:ln w="14288">
            <a:solidFill>
              <a:srgbClr val="E6D8BF"/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CC20E72-1B08-44F0-8BDC-F810B96389C3}"/>
              </a:ext>
            </a:extLst>
          </p:cNvPr>
          <p:cNvCxnSpPr/>
          <p:nvPr/>
        </p:nvCxnSpPr>
        <p:spPr>
          <a:xfrm>
            <a:off x="10934700" y="4476750"/>
            <a:ext cx="1323975" cy="0"/>
          </a:xfrm>
          <a:prstGeom prst="straightConnector1">
            <a:avLst/>
          </a:prstGeom>
          <a:ln w="28575">
            <a:solidFill>
              <a:srgbClr val="9A6A24"/>
            </a:solidFill>
            <a:prstDash val="dash"/>
            <a:headEnd type="none" w="lg" len="lg"/>
            <a:tailEnd type="arrow" w="lg" len="lg"/>
          </a:ln>
        </p:spPr>
      </p:cxnSp>
    </p:spTree>
    <p:extLst>
      <p:ext uri="{BB962C8B-B14F-4D97-AF65-F5344CB8AC3E}">
        <p14:creationId xmlns:p14="http://schemas.microsoft.com/office/powerpoint/2010/main" val="15960361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Macintosh PowerPoint</Application>
  <DocSecurity>0</DocSecurity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Thonburi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2510711302005 Winothai Thatthong</cp:lastModifiedBy>
  <cp:revision>1</cp:revision>
  <dcterms:created xsi:type="dcterms:W3CDTF">2026-10-16T10:05:29Z</dcterms:created>
  <dcterms:modified xsi:type="dcterms:W3CDTF">2026-10-16T10:13:51Z</dcterms:modified>
</cp:coreProperties>
</file>